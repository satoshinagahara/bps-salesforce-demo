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導入前（現状）</c:v>
                </c:pt>
              </c:strCache>
            </c:strRef>
          </c:tx>
          <c:spPr>
            <a:solidFill>
              <a:srgbClr val="7F8C8D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電力コスト
（百万円）</c:v>
                </c:pt>
                <c:pt idx="1">
                  <c:v>保全コスト
（百万円）</c:v>
                </c:pt>
                <c:pt idx="2">
                  <c:v>レポート工数
（人日/月）</c:v>
                </c:pt>
                <c:pt idx="3">
                  <c:v>CO2排出量
（t-CO2/年）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480</c:v>
                </c:pt>
                <c:pt idx="1">
                  <c:v>120</c:v>
                </c:pt>
                <c:pt idx="2">
                  <c:v>25</c:v>
                </c:pt>
                <c:pt idx="3">
                  <c:v>8500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導入後（3年目）</c:v>
                </c:pt>
              </c:strCache>
            </c:strRef>
          </c:tx>
          <c:spPr>
            <a:solidFill>
              <a:srgbClr val="2E8B57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電力コスト
（百万円）</c:v>
                </c:pt>
                <c:pt idx="1">
                  <c:v>保全コスト
（百万円）</c:v>
                </c:pt>
                <c:pt idx="2">
                  <c:v>レポート工数
（人日/月）</c:v>
                </c:pt>
                <c:pt idx="3">
                  <c:v>CO2排出量
（t-CO2/年）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384</c:v>
                </c:pt>
                <c:pt idx="1">
                  <c:v>84</c:v>
                </c:pt>
                <c:pt idx="2">
                  <c:v>5</c:v>
                </c:pt>
                <c:pt idx="3">
                  <c:v>5950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累積投資（千円）</c:v>
                </c:pt>
              </c:strCache>
            </c:strRef>
          </c:tx>
          <c:spPr>
            <a:ln w="38100">
              <a:solidFill>
                <a:srgbClr val="C0392B"/>
              </a:solidFill>
            </a:ln>
          </c:spPr>
          <c:dLbls>
            <c:numFmt formatCode="#,##0" sourceLinked="0"/>
            <c:txPr>
              <a:bodyPr/>
              <a:lstStyle/>
              <a:p>
                <a:pPr>
                  <a:defRPr sz="800"/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初年度</c:v>
                </c:pt>
                <c:pt idx="1">
                  <c:v>2年目</c:v>
                </c:pt>
                <c:pt idx="2">
                  <c:v>3年目</c:v>
                </c:pt>
                <c:pt idx="3">
                  <c:v>4年目</c:v>
                </c:pt>
                <c:pt idx="4">
                  <c:v>5年目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228000</c:v>
                </c:pt>
                <c:pt idx="1">
                  <c:v>312000</c:v>
                </c:pt>
                <c:pt idx="2">
                  <c:v>384000</c:v>
                </c:pt>
                <c:pt idx="3">
                  <c:v>456000</c:v>
                </c:pt>
                <c:pt idx="4">
                  <c:v>528000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累積効果（千円）</c:v>
                </c:pt>
              </c:strCache>
            </c:strRef>
          </c:tx>
          <c:spPr>
            <a:ln w="38100">
              <a:solidFill>
                <a:srgbClr val="2E8B57"/>
              </a:solidFill>
            </a:ln>
          </c:spPr>
          <c:dLbls>
            <c:numFmt formatCode="#,##0" sourceLinked="0"/>
            <c:txPr>
              <a:bodyPr/>
              <a:lstStyle/>
              <a:p>
                <a:pPr>
                  <a:defRPr sz="800"/>
                </a:pPr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初年度</c:v>
                </c:pt>
                <c:pt idx="1">
                  <c:v>2年目</c:v>
                </c:pt>
                <c:pt idx="2">
                  <c:v>3年目</c:v>
                </c:pt>
                <c:pt idx="3">
                  <c:v>4年目</c:v>
                </c:pt>
                <c:pt idx="4">
                  <c:v>5年目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45600</c:v>
                </c:pt>
                <c:pt idx="1">
                  <c:v>152000</c:v>
                </c:pt>
                <c:pt idx="2">
                  <c:v>304000</c:v>
                </c:pt>
                <c:pt idx="3">
                  <c:v>456000</c:v>
                </c:pt>
                <c:pt idx="4">
                  <c:v>608000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3152" cy="36576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7CC47C"/>
                </a:solidFill>
              </a:defRPr>
            </a:pPr>
            <a:r>
              <a:t>BPS Corporation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3A8FC1"/>
                </a:solidFill>
              </a:defRPr>
            </a:pPr>
            <a:r>
              <a:t>Renewable Energy Solutions for a Sustainable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エネルギー管理プラットフォーム導入提案書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88D2A"/>
                </a:solidFill>
              </a:defRPr>
            </a:pPr>
            <a:r>
              <a:t>関東広域エネルギー公社 御中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2026年3月27日</a:t>
            </a:r>
          </a:p>
          <a:p>
            <a:pPr>
              <a:defRPr sz="1400">
                <a:solidFill>
                  <a:srgbClr val="7F8C8D"/>
                </a:solidFill>
              </a:defRPr>
            </a:pPr>
            <a:r>
              <a:t>BPS Corporation エネルギーソリューション事業部</a:t>
            </a:r>
          </a:p>
          <a:p>
            <a:pPr>
              <a:defRPr sz="1200">
                <a:solidFill>
                  <a:srgbClr val="7F8C8D"/>
                </a:solidFill>
              </a:defRPr>
            </a:pPr>
            <a:r>
              <a:t>提案担当: 山田 太郎 / ソリューションアーキテクト: 鈴木 花子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943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0392B"/>
                </a:solidFill>
              </a:defRPr>
            </a:pPr>
            <a:r>
              <a:t>CONFIDENTIAL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371600"/>
            <a:ext cx="2286000" cy="54864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</a:defRPr>
            </a:pPr>
            <a:r>
              <a:t>提案番号: BP-2026-0342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顧客課題の整理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2560320"/>
            <a:ext cx="2560320" cy="128016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関東広域エネルギー公社</a:t>
            </a:r>
            <a:br/>
            <a:r>
              <a:t>経営課題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474720" cy="1645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課題1: エネルギー消費の見える化不足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管轄施設320拠点の電力消費データが分散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月次レポート作成に平均5人日を要する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リアルタイムモニタリング体制が未整備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474720" cy="164592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課題2: 設備老朽化と保全コスト増大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設備の平均稼働年数15年超が全体の42%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年間保全費用が前年比12%増加傾向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故障予兆検知の仕組みが存在しない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3474720" cy="164592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課題3: カーボンニュートラル対応の遅れ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2030年度CO2排出30%削減目標の達成が困難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再生可能エネルギー比率が現状18%に留まる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排出量算定プロセスが手動で精度に課題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114800"/>
            <a:ext cx="3474720" cy="164592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課題4: 災害時のレジリエンス不足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非常用電源の一元管理ができていない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停電時の復旧優先順位が属人的判断に依存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BCP対応マニュアルの更新が3年前で停滞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31920" y="1691640"/>
            <a:ext cx="9144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315200" y="1691640"/>
            <a:ext cx="9144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3931920" y="4709160"/>
            <a:ext cx="9144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315200" y="4709160"/>
            <a:ext cx="914400" cy="3200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0" y="1280160"/>
            <a:ext cx="777240" cy="365760"/>
          </a:xfrm>
          <a:prstGeom prst="ellipse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C0392B"/>
                </a:solidFill>
              </a:defRPr>
            </a:pPr>
            <a:r>
              <a:t>影響度:高</a:t>
            </a:r>
          </a:p>
        </p:txBody>
      </p:sp>
      <p:sp>
        <p:nvSpPr>
          <p:cNvPr id="14" name="Oval 13"/>
          <p:cNvSpPr/>
          <p:nvPr/>
        </p:nvSpPr>
        <p:spPr>
          <a:xfrm>
            <a:off x="7406640" y="1280160"/>
            <a:ext cx="777240" cy="365760"/>
          </a:xfrm>
          <a:prstGeom prst="ellipse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C0392B"/>
                </a:solidFill>
              </a:defRPr>
            </a:pPr>
            <a:r>
              <a:t>影響度:高</a:t>
            </a:r>
          </a:p>
        </p:txBody>
      </p:sp>
      <p:sp>
        <p:nvSpPr>
          <p:cNvPr id="15" name="Oval 14"/>
          <p:cNvSpPr/>
          <p:nvPr/>
        </p:nvSpPr>
        <p:spPr>
          <a:xfrm>
            <a:off x="4023360" y="4343400"/>
            <a:ext cx="777240" cy="365760"/>
          </a:xfrm>
          <a:prstGeom prst="ellipse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E88D2A"/>
                </a:solidFill>
              </a:defRPr>
            </a:pPr>
            <a:r>
              <a:t>影響度:中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0" y="4343400"/>
            <a:ext cx="777240" cy="365760"/>
          </a:xfrm>
          <a:prstGeom prst="ellipse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E88D2A"/>
                </a:solidFill>
              </a:defRPr>
            </a:pPr>
            <a:r>
              <a:t>影響度:中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提案ソリューション全体像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371600" cy="4572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現場レイヤー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743200"/>
            <a:ext cx="1371600" cy="4572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通信レイヤー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4389120"/>
            <a:ext cx="1371600" cy="4572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クラウドレイヤー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5669280"/>
            <a:ext cx="1371600" cy="4572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利用者レイヤー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005840"/>
            <a:ext cx="1463040" cy="6400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温度センサー</a:t>
            </a:r>
            <a:br/>
            <a:r>
              <a:t>150台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005840"/>
            <a:ext cx="1463040" cy="6400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電力メーター</a:t>
            </a:r>
            <a:br/>
            <a:r>
              <a:t>320台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005840"/>
            <a:ext cx="1463040" cy="6400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振動センサー</a:t>
            </a:r>
            <a:br/>
            <a:r>
              <a:t>80台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005840"/>
            <a:ext cx="1463040" cy="6400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環境センサー</a:t>
            </a:r>
            <a:br/>
            <a:r>
              <a:t>60台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1005840"/>
            <a:ext cx="2286000" cy="6400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E-1000</a:t>
            </a:r>
            <a:br/>
            <a:r>
              <a:t>エネルギーメーター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737360"/>
            <a:ext cx="2743200" cy="6400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B2A4A"/>
                </a:solidFill>
              </a:defRPr>
            </a:pPr>
            <a:r>
              <a:t>高精度計測 ±0.5%</a:t>
            </a:r>
            <a:br/>
            <a:r>
              <a:t>5秒間隔データ収集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743200" y="1737360"/>
            <a:ext cx="274320" cy="731520"/>
          </a:xfrm>
          <a:prstGeom prst="downArrow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4572000" y="1737360"/>
            <a:ext cx="274320" cy="731520"/>
          </a:xfrm>
          <a:prstGeom prst="downArrow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6400800" y="1737360"/>
            <a:ext cx="274320" cy="731520"/>
          </a:xfrm>
          <a:prstGeom prst="downArrow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8229600" y="1737360"/>
            <a:ext cx="274320" cy="731520"/>
          </a:xfrm>
          <a:prstGeom prst="downArrow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03120" y="2560320"/>
            <a:ext cx="3657600" cy="82296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IoTゲートウェイ</a:t>
            </a:r>
            <a:br/>
            <a:r>
              <a:t>MQTT / HTTPS プロトコル変換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560320"/>
            <a:ext cx="2743200" cy="82296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閉域ネットワーク</a:t>
            </a:r>
            <a:br/>
            <a:r>
              <a:t>VPN / 専用回線</a:t>
            </a:r>
          </a:p>
        </p:txBody>
      </p:sp>
      <p:sp>
        <p:nvSpPr>
          <p:cNvPr id="20" name="Diamond 19"/>
          <p:cNvSpPr/>
          <p:nvPr/>
        </p:nvSpPr>
        <p:spPr>
          <a:xfrm>
            <a:off x="9601200" y="2651760"/>
            <a:ext cx="2103120" cy="594360"/>
          </a:xfrm>
          <a:prstGeom prst="diamond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TLS1.3暗号化</a:t>
            </a:r>
            <a:br/>
            <a:r>
              <a:t>ISO27001準拠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029200" y="3474720"/>
            <a:ext cx="365760" cy="731520"/>
          </a:xfrm>
          <a:prstGeom prst="downArrow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28800" y="4297680"/>
            <a:ext cx="5029200" cy="10972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8D2A"/>
                </a:solidFill>
              </a:defRPr>
            </a:pPr>
            <a:r>
              <a:t>SW-100 エネルギー管理プラットフォーム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データ収集 | AI分析 | 異常検知 | レポート自動生成 | API連携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297680"/>
            <a:ext cx="4114800" cy="10972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8D2A"/>
                </a:solidFill>
              </a:defRPr>
            </a:pPr>
            <a:r>
              <a:t>CS-100 設備保全クラウドサービス</a:t>
            </a:r>
          </a:p>
          <a:p>
            <a:pPr algn="ctr">
              <a:defRPr sz="1000" b="0">
                <a:solidFill>
                  <a:srgbClr val="FFFFFF"/>
                </a:solidFill>
              </a:defRPr>
            </a:pPr>
            <a:r>
              <a:t>予防保全 | 故障予兆検知 | 作業指示 | 部品在庫管理</a:t>
            </a:r>
          </a:p>
        </p:txBody>
      </p:sp>
      <p:sp>
        <p:nvSpPr>
          <p:cNvPr id="24" name="Left-Right Arrow 23"/>
          <p:cNvSpPr/>
          <p:nvPr/>
        </p:nvSpPr>
        <p:spPr>
          <a:xfrm>
            <a:off x="6858000" y="4663440"/>
            <a:ext cx="502920" cy="274320"/>
          </a:xfrm>
          <a:prstGeom prst="leftRightArrow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5760720" y="5440680"/>
            <a:ext cx="365760" cy="274320"/>
          </a:xfrm>
          <a:prstGeom prst="down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828800" y="5760720"/>
            <a:ext cx="2011680" cy="59436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経営ダッシュボード</a:t>
            </a:r>
            <a:br/>
            <a:r>
              <a:t>（経営層）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5760720"/>
            <a:ext cx="2011680" cy="59436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運用モニタリング</a:t>
            </a:r>
            <a:br/>
            <a:r>
              <a:t>（施設管理者）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760720"/>
            <a:ext cx="2011680" cy="59436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保全作業管理</a:t>
            </a:r>
            <a:br/>
            <a:r>
              <a:t>（保全担当者）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5760720"/>
            <a:ext cx="2011680" cy="59436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環境レポート</a:t>
            </a:r>
            <a:br/>
            <a:r>
              <a:t>（CSR/広報部門）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6400800"/>
            <a:ext cx="3657600" cy="2286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7F8C8D"/>
                </a:solidFill>
              </a:defRPr>
            </a:pPr>
            <a:r>
              <a:t>※ 本構成は320拠点一括管理を前提としたスケーリング設計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導入効果の試算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0" y="1097280"/>
            <a:ext cx="1645920" cy="50292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項目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097280"/>
            <a:ext cx="1097280" cy="50292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削減量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1097280"/>
            <a:ext cx="1097280" cy="50292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削減率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600200"/>
            <a:ext cx="1645920" cy="5029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電力コスト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600200"/>
            <a:ext cx="1097280" cy="5029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▲96百万円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20" y="1600200"/>
            <a:ext cx="1097280" cy="50292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B2A4A"/>
                </a:solidFill>
              </a:defRPr>
            </a:pPr>
            <a:r>
              <a:t>▲20%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103120"/>
            <a:ext cx="1645920" cy="5029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保全コスト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2103120"/>
            <a:ext cx="1097280" cy="5029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▲36百万円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0" y="2103120"/>
            <a:ext cx="1097280" cy="50292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B2A4A"/>
                </a:solidFill>
              </a:defRPr>
            </a:pPr>
            <a:r>
              <a:t>▲30%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606040"/>
            <a:ext cx="1645920" cy="5029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レポート工数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606040"/>
            <a:ext cx="1097280" cy="5029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▲20人日/月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0" y="2606040"/>
            <a:ext cx="1097280" cy="50292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B2A4A"/>
                </a:solidFill>
              </a:defRPr>
            </a:pPr>
            <a:r>
              <a:t>▲80%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3108960"/>
            <a:ext cx="1645920" cy="5029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CO2排出量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3108960"/>
            <a:ext cx="1097280" cy="50292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▲2,550t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3108960"/>
            <a:ext cx="1097280" cy="50292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B2A4A"/>
                </a:solidFill>
              </a:defRPr>
            </a:pPr>
            <a:r>
              <a:t>▲30%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572000"/>
            <a:ext cx="3840480" cy="91440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年間コスト削減効果（3年目以降）</a:t>
            </a: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約1億3,200万円 / 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F8C8D"/>
                </a:solidFill>
              </a:defRPr>
            </a:pPr>
            <a:r>
              <a:t>※ 試算前提: 管轄施設320拠点、年間電力消費量約48GWh、現行保全契約額120百万円/年</a:t>
            </a:r>
          </a:p>
          <a:p>
            <a:pPr algn="l">
              <a:defRPr sz="900" b="0">
                <a:solidFill>
                  <a:srgbClr val="7F8C8D"/>
                </a:solidFill>
              </a:defRPr>
            </a:pPr>
            <a:r>
              <a:t>※ 導入後数値は段階的改善を考慮した3年目安定稼働時の見込み値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導入スケジュール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28600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フェーズ / タスク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68580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2026/7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188720"/>
            <a:ext cx="68580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188720"/>
            <a:ext cx="68580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188720"/>
            <a:ext cx="68580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188720"/>
            <a:ext cx="68580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88720"/>
            <a:ext cx="68580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188720"/>
            <a:ext cx="68580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2027/1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188720"/>
            <a:ext cx="68580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188720"/>
            <a:ext cx="68580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188720"/>
            <a:ext cx="68580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188720"/>
            <a:ext cx="68580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87000" y="1188720"/>
            <a:ext cx="68580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600200"/>
            <a:ext cx="2286000" cy="4114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Phase 1: 基盤構築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1600200"/>
            <a:ext cx="685800" cy="4114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" name="Rounded Rectangle 18"/>
          <p:cNvSpPr/>
          <p:nvPr/>
        </p:nvSpPr>
        <p:spPr>
          <a:xfrm>
            <a:off x="3429000" y="1600200"/>
            <a:ext cx="685800" cy="4114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4114800" y="1600200"/>
            <a:ext cx="685800" cy="4114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4800600" y="1600200"/>
            <a:ext cx="685800" cy="4114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Rectangle 21"/>
          <p:cNvSpPr/>
          <p:nvPr/>
        </p:nvSpPr>
        <p:spPr>
          <a:xfrm>
            <a:off x="5486400" y="16002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3" name="Rectangle 22"/>
          <p:cNvSpPr/>
          <p:nvPr/>
        </p:nvSpPr>
        <p:spPr>
          <a:xfrm>
            <a:off x="6172200" y="16002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4" name="Rectangle 23"/>
          <p:cNvSpPr/>
          <p:nvPr/>
        </p:nvSpPr>
        <p:spPr>
          <a:xfrm>
            <a:off x="6858000" y="16002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Rectangle 24"/>
          <p:cNvSpPr/>
          <p:nvPr/>
        </p:nvSpPr>
        <p:spPr>
          <a:xfrm>
            <a:off x="7543800" y="16002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6" name="Rectangle 25"/>
          <p:cNvSpPr/>
          <p:nvPr/>
        </p:nvSpPr>
        <p:spPr>
          <a:xfrm>
            <a:off x="8229600" y="16002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7" name="Rectangle 26"/>
          <p:cNvSpPr/>
          <p:nvPr/>
        </p:nvSpPr>
        <p:spPr>
          <a:xfrm>
            <a:off x="8915400" y="16002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Rectangle 27"/>
          <p:cNvSpPr/>
          <p:nvPr/>
        </p:nvSpPr>
        <p:spPr>
          <a:xfrm>
            <a:off x="9601200" y="16002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Rectangle 28"/>
          <p:cNvSpPr/>
          <p:nvPr/>
        </p:nvSpPr>
        <p:spPr>
          <a:xfrm>
            <a:off x="10287000" y="16002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457200" y="201168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要件定義・設計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2011680"/>
            <a:ext cx="685800" cy="4114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2" name="Rounded Rectangle 31"/>
          <p:cNvSpPr/>
          <p:nvPr/>
        </p:nvSpPr>
        <p:spPr>
          <a:xfrm>
            <a:off x="3429000" y="2011680"/>
            <a:ext cx="685800" cy="4114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Rectangle 32"/>
          <p:cNvSpPr/>
          <p:nvPr/>
        </p:nvSpPr>
        <p:spPr>
          <a:xfrm>
            <a:off x="4114800" y="20116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4" name="Rectangle 33"/>
          <p:cNvSpPr/>
          <p:nvPr/>
        </p:nvSpPr>
        <p:spPr>
          <a:xfrm>
            <a:off x="4800600" y="20116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5" name="Rectangle 34"/>
          <p:cNvSpPr/>
          <p:nvPr/>
        </p:nvSpPr>
        <p:spPr>
          <a:xfrm>
            <a:off x="5486400" y="20116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6" name="Rectangle 35"/>
          <p:cNvSpPr/>
          <p:nvPr/>
        </p:nvSpPr>
        <p:spPr>
          <a:xfrm>
            <a:off x="6172200" y="20116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7" name="Rectangle 36"/>
          <p:cNvSpPr/>
          <p:nvPr/>
        </p:nvSpPr>
        <p:spPr>
          <a:xfrm>
            <a:off x="6858000" y="20116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8" name="Rectangle 37"/>
          <p:cNvSpPr/>
          <p:nvPr/>
        </p:nvSpPr>
        <p:spPr>
          <a:xfrm>
            <a:off x="7543800" y="20116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9" name="Rectangle 38"/>
          <p:cNvSpPr/>
          <p:nvPr/>
        </p:nvSpPr>
        <p:spPr>
          <a:xfrm>
            <a:off x="8229600" y="20116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0" name="Rectangle 39"/>
          <p:cNvSpPr/>
          <p:nvPr/>
        </p:nvSpPr>
        <p:spPr>
          <a:xfrm>
            <a:off x="8915400" y="20116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1" name="Rectangle 40"/>
          <p:cNvSpPr/>
          <p:nvPr/>
        </p:nvSpPr>
        <p:spPr>
          <a:xfrm>
            <a:off x="9601200" y="20116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2" name="Rectangle 41"/>
          <p:cNvSpPr/>
          <p:nvPr/>
        </p:nvSpPr>
        <p:spPr>
          <a:xfrm>
            <a:off x="10287000" y="20116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3" name="Rounded Rectangle 42"/>
          <p:cNvSpPr/>
          <p:nvPr/>
        </p:nvSpPr>
        <p:spPr>
          <a:xfrm>
            <a:off x="457200" y="242316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E-1000 設置（パイロット20拠点）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0" y="24231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5" name="Rounded Rectangle 44"/>
          <p:cNvSpPr/>
          <p:nvPr/>
        </p:nvSpPr>
        <p:spPr>
          <a:xfrm>
            <a:off x="3429000" y="2423160"/>
            <a:ext cx="685800" cy="4114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6" name="Rounded Rectangle 45"/>
          <p:cNvSpPr/>
          <p:nvPr/>
        </p:nvSpPr>
        <p:spPr>
          <a:xfrm>
            <a:off x="4114800" y="2423160"/>
            <a:ext cx="685800" cy="4114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7" name="Rectangle 46"/>
          <p:cNvSpPr/>
          <p:nvPr/>
        </p:nvSpPr>
        <p:spPr>
          <a:xfrm>
            <a:off x="4800600" y="24231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8" name="Rectangle 47"/>
          <p:cNvSpPr/>
          <p:nvPr/>
        </p:nvSpPr>
        <p:spPr>
          <a:xfrm>
            <a:off x="5486400" y="24231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9" name="Rectangle 48"/>
          <p:cNvSpPr/>
          <p:nvPr/>
        </p:nvSpPr>
        <p:spPr>
          <a:xfrm>
            <a:off x="6172200" y="24231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0" name="Rectangle 49"/>
          <p:cNvSpPr/>
          <p:nvPr/>
        </p:nvSpPr>
        <p:spPr>
          <a:xfrm>
            <a:off x="6858000" y="24231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1" name="Rectangle 50"/>
          <p:cNvSpPr/>
          <p:nvPr/>
        </p:nvSpPr>
        <p:spPr>
          <a:xfrm>
            <a:off x="7543800" y="24231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2" name="Rectangle 51"/>
          <p:cNvSpPr/>
          <p:nvPr/>
        </p:nvSpPr>
        <p:spPr>
          <a:xfrm>
            <a:off x="8229600" y="24231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3" name="Rectangle 52"/>
          <p:cNvSpPr/>
          <p:nvPr/>
        </p:nvSpPr>
        <p:spPr>
          <a:xfrm>
            <a:off x="8915400" y="24231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4" name="Rectangle 53"/>
          <p:cNvSpPr/>
          <p:nvPr/>
        </p:nvSpPr>
        <p:spPr>
          <a:xfrm>
            <a:off x="9601200" y="24231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5" name="Rectangle 54"/>
          <p:cNvSpPr/>
          <p:nvPr/>
        </p:nvSpPr>
        <p:spPr>
          <a:xfrm>
            <a:off x="10287000" y="24231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6" name="Rounded Rectangle 55"/>
          <p:cNvSpPr/>
          <p:nvPr/>
        </p:nvSpPr>
        <p:spPr>
          <a:xfrm>
            <a:off x="457200" y="283464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SW-100 環境構築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28346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8" name="Rectangle 57"/>
          <p:cNvSpPr/>
          <p:nvPr/>
        </p:nvSpPr>
        <p:spPr>
          <a:xfrm>
            <a:off x="3429000" y="28346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59" name="Rounded Rectangle 58"/>
          <p:cNvSpPr/>
          <p:nvPr/>
        </p:nvSpPr>
        <p:spPr>
          <a:xfrm>
            <a:off x="4114800" y="2834640"/>
            <a:ext cx="685800" cy="4114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0" name="Rounded Rectangle 59"/>
          <p:cNvSpPr/>
          <p:nvPr/>
        </p:nvSpPr>
        <p:spPr>
          <a:xfrm>
            <a:off x="4800600" y="2834640"/>
            <a:ext cx="685800" cy="41148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1" name="Rectangle 60"/>
          <p:cNvSpPr/>
          <p:nvPr/>
        </p:nvSpPr>
        <p:spPr>
          <a:xfrm>
            <a:off x="5486400" y="28346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2" name="Rectangle 61"/>
          <p:cNvSpPr/>
          <p:nvPr/>
        </p:nvSpPr>
        <p:spPr>
          <a:xfrm>
            <a:off x="6172200" y="28346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3" name="Rectangle 62"/>
          <p:cNvSpPr/>
          <p:nvPr/>
        </p:nvSpPr>
        <p:spPr>
          <a:xfrm>
            <a:off x="6858000" y="28346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4" name="Rectangle 63"/>
          <p:cNvSpPr/>
          <p:nvPr/>
        </p:nvSpPr>
        <p:spPr>
          <a:xfrm>
            <a:off x="7543800" y="28346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5" name="Rectangle 64"/>
          <p:cNvSpPr/>
          <p:nvPr/>
        </p:nvSpPr>
        <p:spPr>
          <a:xfrm>
            <a:off x="8229600" y="28346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6" name="Rectangle 65"/>
          <p:cNvSpPr/>
          <p:nvPr/>
        </p:nvSpPr>
        <p:spPr>
          <a:xfrm>
            <a:off x="8915400" y="28346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7" name="Rectangle 66"/>
          <p:cNvSpPr/>
          <p:nvPr/>
        </p:nvSpPr>
        <p:spPr>
          <a:xfrm>
            <a:off x="9601200" y="28346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8" name="Rectangle 67"/>
          <p:cNvSpPr/>
          <p:nvPr/>
        </p:nvSpPr>
        <p:spPr>
          <a:xfrm>
            <a:off x="10287000" y="28346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9" name="Rounded Rectangle 68"/>
          <p:cNvSpPr/>
          <p:nvPr/>
        </p:nvSpPr>
        <p:spPr>
          <a:xfrm>
            <a:off x="457200" y="3246120"/>
            <a:ext cx="228600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Phase 2: 展開・統合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0" y="32461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1" name="Rectangle 70"/>
          <p:cNvSpPr/>
          <p:nvPr/>
        </p:nvSpPr>
        <p:spPr>
          <a:xfrm>
            <a:off x="3429000" y="32461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2" name="Rectangle 71"/>
          <p:cNvSpPr/>
          <p:nvPr/>
        </p:nvSpPr>
        <p:spPr>
          <a:xfrm>
            <a:off x="4114800" y="32461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3" name="Rectangle 72"/>
          <p:cNvSpPr/>
          <p:nvPr/>
        </p:nvSpPr>
        <p:spPr>
          <a:xfrm>
            <a:off x="4800600" y="32461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4" name="Rounded Rectangle 73"/>
          <p:cNvSpPr/>
          <p:nvPr/>
        </p:nvSpPr>
        <p:spPr>
          <a:xfrm>
            <a:off x="5486400" y="3246120"/>
            <a:ext cx="68580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5" name="Rounded Rectangle 74"/>
          <p:cNvSpPr/>
          <p:nvPr/>
        </p:nvSpPr>
        <p:spPr>
          <a:xfrm>
            <a:off x="6172200" y="3246120"/>
            <a:ext cx="68580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6" name="Rounded Rectangle 75"/>
          <p:cNvSpPr/>
          <p:nvPr/>
        </p:nvSpPr>
        <p:spPr>
          <a:xfrm>
            <a:off x="6858000" y="3246120"/>
            <a:ext cx="68580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7" name="Rounded Rectangle 76"/>
          <p:cNvSpPr/>
          <p:nvPr/>
        </p:nvSpPr>
        <p:spPr>
          <a:xfrm>
            <a:off x="7543800" y="3246120"/>
            <a:ext cx="68580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8" name="Rectangle 77"/>
          <p:cNvSpPr/>
          <p:nvPr/>
        </p:nvSpPr>
        <p:spPr>
          <a:xfrm>
            <a:off x="8229600" y="32461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9" name="Rectangle 78"/>
          <p:cNvSpPr/>
          <p:nvPr/>
        </p:nvSpPr>
        <p:spPr>
          <a:xfrm>
            <a:off x="8915400" y="32461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0" name="Rectangle 79"/>
          <p:cNvSpPr/>
          <p:nvPr/>
        </p:nvSpPr>
        <p:spPr>
          <a:xfrm>
            <a:off x="9601200" y="32461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1" name="Rectangle 80"/>
          <p:cNvSpPr/>
          <p:nvPr/>
        </p:nvSpPr>
        <p:spPr>
          <a:xfrm>
            <a:off x="10287000" y="32461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2" name="Rounded Rectangle 81"/>
          <p:cNvSpPr/>
          <p:nvPr/>
        </p:nvSpPr>
        <p:spPr>
          <a:xfrm>
            <a:off x="457200" y="365760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E-1000 全拠点展開（300拠点）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0" y="36576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4" name="Rectangle 83"/>
          <p:cNvSpPr/>
          <p:nvPr/>
        </p:nvSpPr>
        <p:spPr>
          <a:xfrm>
            <a:off x="3429000" y="36576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5" name="Rectangle 84"/>
          <p:cNvSpPr/>
          <p:nvPr/>
        </p:nvSpPr>
        <p:spPr>
          <a:xfrm>
            <a:off x="4114800" y="36576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6" name="Rectangle 85"/>
          <p:cNvSpPr/>
          <p:nvPr/>
        </p:nvSpPr>
        <p:spPr>
          <a:xfrm>
            <a:off x="4800600" y="36576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7" name="Rounded Rectangle 86"/>
          <p:cNvSpPr/>
          <p:nvPr/>
        </p:nvSpPr>
        <p:spPr>
          <a:xfrm>
            <a:off x="5486400" y="3657600"/>
            <a:ext cx="685800" cy="41148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8" name="Rounded Rectangle 87"/>
          <p:cNvSpPr/>
          <p:nvPr/>
        </p:nvSpPr>
        <p:spPr>
          <a:xfrm>
            <a:off x="6172200" y="3657600"/>
            <a:ext cx="685800" cy="41148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9" name="Rounded Rectangle 88"/>
          <p:cNvSpPr/>
          <p:nvPr/>
        </p:nvSpPr>
        <p:spPr>
          <a:xfrm>
            <a:off x="6858000" y="3657600"/>
            <a:ext cx="685800" cy="41148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0" name="Rectangle 89"/>
          <p:cNvSpPr/>
          <p:nvPr/>
        </p:nvSpPr>
        <p:spPr>
          <a:xfrm>
            <a:off x="7543800" y="36576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1" name="Rectangle 90"/>
          <p:cNvSpPr/>
          <p:nvPr/>
        </p:nvSpPr>
        <p:spPr>
          <a:xfrm>
            <a:off x="8229600" y="36576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2" name="Rectangle 91"/>
          <p:cNvSpPr/>
          <p:nvPr/>
        </p:nvSpPr>
        <p:spPr>
          <a:xfrm>
            <a:off x="8915400" y="36576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3" name="Rectangle 92"/>
          <p:cNvSpPr/>
          <p:nvPr/>
        </p:nvSpPr>
        <p:spPr>
          <a:xfrm>
            <a:off x="9601200" y="36576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4" name="Rectangle 93"/>
          <p:cNvSpPr/>
          <p:nvPr/>
        </p:nvSpPr>
        <p:spPr>
          <a:xfrm>
            <a:off x="10287000" y="36576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5" name="Rounded Rectangle 94"/>
          <p:cNvSpPr/>
          <p:nvPr/>
        </p:nvSpPr>
        <p:spPr>
          <a:xfrm>
            <a:off x="457200" y="406908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CS-100 導入・連携設定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0" y="40690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7" name="Rectangle 96"/>
          <p:cNvSpPr/>
          <p:nvPr/>
        </p:nvSpPr>
        <p:spPr>
          <a:xfrm>
            <a:off x="3429000" y="40690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8" name="Rectangle 97"/>
          <p:cNvSpPr/>
          <p:nvPr/>
        </p:nvSpPr>
        <p:spPr>
          <a:xfrm>
            <a:off x="4114800" y="40690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9" name="Rectangle 98"/>
          <p:cNvSpPr/>
          <p:nvPr/>
        </p:nvSpPr>
        <p:spPr>
          <a:xfrm>
            <a:off x="4800600" y="40690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0" name="Rectangle 99"/>
          <p:cNvSpPr/>
          <p:nvPr/>
        </p:nvSpPr>
        <p:spPr>
          <a:xfrm>
            <a:off x="5486400" y="40690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1" name="Rounded Rectangle 100"/>
          <p:cNvSpPr/>
          <p:nvPr/>
        </p:nvSpPr>
        <p:spPr>
          <a:xfrm>
            <a:off x="6172200" y="4069080"/>
            <a:ext cx="685800" cy="41148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2" name="Rounded Rectangle 101"/>
          <p:cNvSpPr/>
          <p:nvPr/>
        </p:nvSpPr>
        <p:spPr>
          <a:xfrm>
            <a:off x="6858000" y="4069080"/>
            <a:ext cx="685800" cy="41148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3" name="Rounded Rectangle 102"/>
          <p:cNvSpPr/>
          <p:nvPr/>
        </p:nvSpPr>
        <p:spPr>
          <a:xfrm>
            <a:off x="7543800" y="4069080"/>
            <a:ext cx="685800" cy="41148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4" name="Rectangle 103"/>
          <p:cNvSpPr/>
          <p:nvPr/>
        </p:nvSpPr>
        <p:spPr>
          <a:xfrm>
            <a:off x="8229600" y="40690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5" name="Rectangle 104"/>
          <p:cNvSpPr/>
          <p:nvPr/>
        </p:nvSpPr>
        <p:spPr>
          <a:xfrm>
            <a:off x="8915400" y="40690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6" name="Rectangle 105"/>
          <p:cNvSpPr/>
          <p:nvPr/>
        </p:nvSpPr>
        <p:spPr>
          <a:xfrm>
            <a:off x="9601200" y="40690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7" name="Rectangle 106"/>
          <p:cNvSpPr/>
          <p:nvPr/>
        </p:nvSpPr>
        <p:spPr>
          <a:xfrm>
            <a:off x="10287000" y="40690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08" name="Rounded Rectangle 107"/>
          <p:cNvSpPr/>
          <p:nvPr/>
        </p:nvSpPr>
        <p:spPr>
          <a:xfrm>
            <a:off x="457200" y="448056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AI分析モデル学習・チューニング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0" y="44805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0" name="Rectangle 109"/>
          <p:cNvSpPr/>
          <p:nvPr/>
        </p:nvSpPr>
        <p:spPr>
          <a:xfrm>
            <a:off x="3429000" y="44805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1" name="Rectangle 110"/>
          <p:cNvSpPr/>
          <p:nvPr/>
        </p:nvSpPr>
        <p:spPr>
          <a:xfrm>
            <a:off x="4114800" y="44805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2" name="Rectangle 111"/>
          <p:cNvSpPr/>
          <p:nvPr/>
        </p:nvSpPr>
        <p:spPr>
          <a:xfrm>
            <a:off x="4800600" y="44805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3" name="Rectangle 112"/>
          <p:cNvSpPr/>
          <p:nvPr/>
        </p:nvSpPr>
        <p:spPr>
          <a:xfrm>
            <a:off x="5486400" y="44805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4" name="Rectangle 113"/>
          <p:cNvSpPr/>
          <p:nvPr/>
        </p:nvSpPr>
        <p:spPr>
          <a:xfrm>
            <a:off x="6172200" y="44805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5" name="Rounded Rectangle 114"/>
          <p:cNvSpPr/>
          <p:nvPr/>
        </p:nvSpPr>
        <p:spPr>
          <a:xfrm>
            <a:off x="6858000" y="4480560"/>
            <a:ext cx="685800" cy="41148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6" name="Rounded Rectangle 115"/>
          <p:cNvSpPr/>
          <p:nvPr/>
        </p:nvSpPr>
        <p:spPr>
          <a:xfrm>
            <a:off x="7543800" y="4480560"/>
            <a:ext cx="685800" cy="41148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7" name="Rectangle 116"/>
          <p:cNvSpPr/>
          <p:nvPr/>
        </p:nvSpPr>
        <p:spPr>
          <a:xfrm>
            <a:off x="8229600" y="44805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8" name="Rectangle 117"/>
          <p:cNvSpPr/>
          <p:nvPr/>
        </p:nvSpPr>
        <p:spPr>
          <a:xfrm>
            <a:off x="8915400" y="44805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9" name="Rectangle 118"/>
          <p:cNvSpPr/>
          <p:nvPr/>
        </p:nvSpPr>
        <p:spPr>
          <a:xfrm>
            <a:off x="9601200" y="44805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0" name="Rectangle 119"/>
          <p:cNvSpPr/>
          <p:nvPr/>
        </p:nvSpPr>
        <p:spPr>
          <a:xfrm>
            <a:off x="10287000" y="448056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1" name="Rounded Rectangle 120"/>
          <p:cNvSpPr/>
          <p:nvPr/>
        </p:nvSpPr>
        <p:spPr>
          <a:xfrm>
            <a:off x="457200" y="4892040"/>
            <a:ext cx="228600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Phase 3: 最適化・定着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43200" y="48920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3" name="Rectangle 122"/>
          <p:cNvSpPr/>
          <p:nvPr/>
        </p:nvSpPr>
        <p:spPr>
          <a:xfrm>
            <a:off x="3429000" y="48920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4" name="Rectangle 123"/>
          <p:cNvSpPr/>
          <p:nvPr/>
        </p:nvSpPr>
        <p:spPr>
          <a:xfrm>
            <a:off x="4114800" y="48920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5" name="Rectangle 124"/>
          <p:cNvSpPr/>
          <p:nvPr/>
        </p:nvSpPr>
        <p:spPr>
          <a:xfrm>
            <a:off x="4800600" y="48920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6" name="Rectangle 125"/>
          <p:cNvSpPr/>
          <p:nvPr/>
        </p:nvSpPr>
        <p:spPr>
          <a:xfrm>
            <a:off x="5486400" y="48920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7" name="Rectangle 126"/>
          <p:cNvSpPr/>
          <p:nvPr/>
        </p:nvSpPr>
        <p:spPr>
          <a:xfrm>
            <a:off x="6172200" y="48920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8" name="Rectangle 127"/>
          <p:cNvSpPr/>
          <p:nvPr/>
        </p:nvSpPr>
        <p:spPr>
          <a:xfrm>
            <a:off x="6858000" y="48920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9" name="Rectangle 128"/>
          <p:cNvSpPr/>
          <p:nvPr/>
        </p:nvSpPr>
        <p:spPr>
          <a:xfrm>
            <a:off x="7543800" y="489204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0" name="Rounded Rectangle 129"/>
          <p:cNvSpPr/>
          <p:nvPr/>
        </p:nvSpPr>
        <p:spPr>
          <a:xfrm>
            <a:off x="8229600" y="4892040"/>
            <a:ext cx="68580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1" name="Rounded Rectangle 130"/>
          <p:cNvSpPr/>
          <p:nvPr/>
        </p:nvSpPr>
        <p:spPr>
          <a:xfrm>
            <a:off x="8915400" y="4892040"/>
            <a:ext cx="68580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2" name="Rounded Rectangle 131"/>
          <p:cNvSpPr/>
          <p:nvPr/>
        </p:nvSpPr>
        <p:spPr>
          <a:xfrm>
            <a:off x="9601200" y="4892040"/>
            <a:ext cx="68580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3" name="Rounded Rectangle 132"/>
          <p:cNvSpPr/>
          <p:nvPr/>
        </p:nvSpPr>
        <p:spPr>
          <a:xfrm>
            <a:off x="10287000" y="4892040"/>
            <a:ext cx="68580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4" name="Rounded Rectangle 133"/>
          <p:cNvSpPr/>
          <p:nvPr/>
        </p:nvSpPr>
        <p:spPr>
          <a:xfrm>
            <a:off x="457200" y="530352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運用最適化・KPI改善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743200" y="53035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6" name="Rectangle 135"/>
          <p:cNvSpPr/>
          <p:nvPr/>
        </p:nvSpPr>
        <p:spPr>
          <a:xfrm>
            <a:off x="3429000" y="53035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7" name="Rectangle 136"/>
          <p:cNvSpPr/>
          <p:nvPr/>
        </p:nvSpPr>
        <p:spPr>
          <a:xfrm>
            <a:off x="4114800" y="53035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8" name="Rectangle 137"/>
          <p:cNvSpPr/>
          <p:nvPr/>
        </p:nvSpPr>
        <p:spPr>
          <a:xfrm>
            <a:off x="4800600" y="53035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9" name="Rectangle 138"/>
          <p:cNvSpPr/>
          <p:nvPr/>
        </p:nvSpPr>
        <p:spPr>
          <a:xfrm>
            <a:off x="5486400" y="53035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0" name="Rectangle 139"/>
          <p:cNvSpPr/>
          <p:nvPr/>
        </p:nvSpPr>
        <p:spPr>
          <a:xfrm>
            <a:off x="6172200" y="53035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1" name="Rectangle 140"/>
          <p:cNvSpPr/>
          <p:nvPr/>
        </p:nvSpPr>
        <p:spPr>
          <a:xfrm>
            <a:off x="6858000" y="53035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2" name="Rectangle 141"/>
          <p:cNvSpPr/>
          <p:nvPr/>
        </p:nvSpPr>
        <p:spPr>
          <a:xfrm>
            <a:off x="7543800" y="53035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3" name="Rounded Rectangle 142"/>
          <p:cNvSpPr/>
          <p:nvPr/>
        </p:nvSpPr>
        <p:spPr>
          <a:xfrm>
            <a:off x="8229600" y="5303520"/>
            <a:ext cx="685800" cy="411480"/>
          </a:xfrm>
          <a:prstGeom prst="round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4" name="Rounded Rectangle 143"/>
          <p:cNvSpPr/>
          <p:nvPr/>
        </p:nvSpPr>
        <p:spPr>
          <a:xfrm>
            <a:off x="8915400" y="5303520"/>
            <a:ext cx="685800" cy="411480"/>
          </a:xfrm>
          <a:prstGeom prst="round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5" name="Rectangle 144"/>
          <p:cNvSpPr/>
          <p:nvPr/>
        </p:nvSpPr>
        <p:spPr>
          <a:xfrm>
            <a:off x="9601200" y="53035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6" name="Rectangle 145"/>
          <p:cNvSpPr/>
          <p:nvPr/>
        </p:nvSpPr>
        <p:spPr>
          <a:xfrm>
            <a:off x="10287000" y="530352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7" name="Rounded Rectangle 146"/>
          <p:cNvSpPr/>
          <p:nvPr/>
        </p:nvSpPr>
        <p:spPr>
          <a:xfrm>
            <a:off x="457200" y="571500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ユーザー教育・引き継ぎ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743200" y="57150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9" name="Rectangle 148"/>
          <p:cNvSpPr/>
          <p:nvPr/>
        </p:nvSpPr>
        <p:spPr>
          <a:xfrm>
            <a:off x="3429000" y="57150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0" name="Rectangle 149"/>
          <p:cNvSpPr/>
          <p:nvPr/>
        </p:nvSpPr>
        <p:spPr>
          <a:xfrm>
            <a:off x="4114800" y="57150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1" name="Rectangle 150"/>
          <p:cNvSpPr/>
          <p:nvPr/>
        </p:nvSpPr>
        <p:spPr>
          <a:xfrm>
            <a:off x="4800600" y="57150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2" name="Rectangle 151"/>
          <p:cNvSpPr/>
          <p:nvPr/>
        </p:nvSpPr>
        <p:spPr>
          <a:xfrm>
            <a:off x="5486400" y="57150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3" name="Rectangle 152"/>
          <p:cNvSpPr/>
          <p:nvPr/>
        </p:nvSpPr>
        <p:spPr>
          <a:xfrm>
            <a:off x="6172200" y="57150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4" name="Rectangle 153"/>
          <p:cNvSpPr/>
          <p:nvPr/>
        </p:nvSpPr>
        <p:spPr>
          <a:xfrm>
            <a:off x="6858000" y="57150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5" name="Rectangle 154"/>
          <p:cNvSpPr/>
          <p:nvPr/>
        </p:nvSpPr>
        <p:spPr>
          <a:xfrm>
            <a:off x="7543800" y="57150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6" name="Rectangle 155"/>
          <p:cNvSpPr/>
          <p:nvPr/>
        </p:nvSpPr>
        <p:spPr>
          <a:xfrm>
            <a:off x="8229600" y="57150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7" name="Rounded Rectangle 156"/>
          <p:cNvSpPr/>
          <p:nvPr/>
        </p:nvSpPr>
        <p:spPr>
          <a:xfrm>
            <a:off x="8915400" y="5715000"/>
            <a:ext cx="685800" cy="411480"/>
          </a:xfrm>
          <a:prstGeom prst="round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8" name="Rounded Rectangle 157"/>
          <p:cNvSpPr/>
          <p:nvPr/>
        </p:nvSpPr>
        <p:spPr>
          <a:xfrm>
            <a:off x="9601200" y="5715000"/>
            <a:ext cx="685800" cy="411480"/>
          </a:xfrm>
          <a:prstGeom prst="round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9" name="Rectangle 158"/>
          <p:cNvSpPr/>
          <p:nvPr/>
        </p:nvSpPr>
        <p:spPr>
          <a:xfrm>
            <a:off x="10287000" y="571500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0" name="Rounded Rectangle 159"/>
          <p:cNvSpPr/>
          <p:nvPr/>
        </p:nvSpPr>
        <p:spPr>
          <a:xfrm>
            <a:off x="457200" y="612648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  本番稼働・効果測定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743200" y="61264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2" name="Rectangle 161"/>
          <p:cNvSpPr/>
          <p:nvPr/>
        </p:nvSpPr>
        <p:spPr>
          <a:xfrm>
            <a:off x="3429000" y="61264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3" name="Rectangle 162"/>
          <p:cNvSpPr/>
          <p:nvPr/>
        </p:nvSpPr>
        <p:spPr>
          <a:xfrm>
            <a:off x="4114800" y="61264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4" name="Rectangle 163"/>
          <p:cNvSpPr/>
          <p:nvPr/>
        </p:nvSpPr>
        <p:spPr>
          <a:xfrm>
            <a:off x="4800600" y="61264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5" name="Rectangle 164"/>
          <p:cNvSpPr/>
          <p:nvPr/>
        </p:nvSpPr>
        <p:spPr>
          <a:xfrm>
            <a:off x="5486400" y="61264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6" name="Rectangle 165"/>
          <p:cNvSpPr/>
          <p:nvPr/>
        </p:nvSpPr>
        <p:spPr>
          <a:xfrm>
            <a:off x="6172200" y="61264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7" name="Rectangle 166"/>
          <p:cNvSpPr/>
          <p:nvPr/>
        </p:nvSpPr>
        <p:spPr>
          <a:xfrm>
            <a:off x="6858000" y="61264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8" name="Rectangle 167"/>
          <p:cNvSpPr/>
          <p:nvPr/>
        </p:nvSpPr>
        <p:spPr>
          <a:xfrm>
            <a:off x="7543800" y="61264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9" name="Rectangle 168"/>
          <p:cNvSpPr/>
          <p:nvPr/>
        </p:nvSpPr>
        <p:spPr>
          <a:xfrm>
            <a:off x="8229600" y="61264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0" name="Rectangle 169"/>
          <p:cNvSpPr/>
          <p:nvPr/>
        </p:nvSpPr>
        <p:spPr>
          <a:xfrm>
            <a:off x="8915400" y="6126480"/>
            <a:ext cx="685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1" name="Rounded Rectangle 170"/>
          <p:cNvSpPr/>
          <p:nvPr/>
        </p:nvSpPr>
        <p:spPr>
          <a:xfrm>
            <a:off x="9601200" y="6126480"/>
            <a:ext cx="685800" cy="411480"/>
          </a:xfrm>
          <a:prstGeom prst="round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2" name="Rounded Rectangle 171"/>
          <p:cNvSpPr/>
          <p:nvPr/>
        </p:nvSpPr>
        <p:spPr>
          <a:xfrm>
            <a:off x="10287000" y="6126480"/>
            <a:ext cx="685800" cy="411480"/>
          </a:xfrm>
          <a:prstGeom prst="roundRect">
            <a:avLst/>
          </a:prstGeom>
          <a:solidFill>
            <a:srgbClr val="F0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3" name="Diamond 172"/>
          <p:cNvSpPr/>
          <p:nvPr/>
        </p:nvSpPr>
        <p:spPr>
          <a:xfrm>
            <a:off x="4800600" y="6629400"/>
            <a:ext cx="457200" cy="457200"/>
          </a:xfrm>
          <a:prstGeom prst="diamond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</a:defRPr>
            </a:pPr>
            <a:r>
              <a:t>◆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526280" y="70866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A5C8E"/>
                </a:solidFill>
              </a:defRPr>
            </a:pPr>
            <a:r>
              <a:t>パイロット</a:t>
            </a:r>
            <a:br/>
            <a:r>
              <a:t>検証完了</a:t>
            </a:r>
          </a:p>
        </p:txBody>
      </p:sp>
      <p:sp>
        <p:nvSpPr>
          <p:cNvPr id="175" name="Diamond 174"/>
          <p:cNvSpPr/>
          <p:nvPr/>
        </p:nvSpPr>
        <p:spPr>
          <a:xfrm>
            <a:off x="7543800" y="6629400"/>
            <a:ext cx="457200" cy="457200"/>
          </a:xfrm>
          <a:prstGeom prst="diamond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</a:defRPr>
            </a:pPr>
            <a:r>
              <a:t>◆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269480" y="70866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E8B57"/>
                </a:solidFill>
              </a:defRPr>
            </a:pPr>
            <a:r>
              <a:t>全拠点</a:t>
            </a:r>
            <a:br/>
            <a:r>
              <a:t>展開完了</a:t>
            </a:r>
          </a:p>
        </p:txBody>
      </p:sp>
      <p:sp>
        <p:nvSpPr>
          <p:cNvPr id="177" name="Diamond 176"/>
          <p:cNvSpPr/>
          <p:nvPr/>
        </p:nvSpPr>
        <p:spPr>
          <a:xfrm>
            <a:off x="10287000" y="6629400"/>
            <a:ext cx="457200" cy="457200"/>
          </a:xfrm>
          <a:prstGeom prst="diamond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</a:defRPr>
            </a:pPr>
            <a:r>
              <a:t>◆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012680" y="70866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88D2A"/>
                </a:solidFill>
              </a:defRPr>
            </a:pPr>
            <a:r>
              <a:t>本番</a:t>
            </a:r>
            <a:br/>
            <a:r>
              <a:t>稼働開始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プロジェクト体制: BPS側 PM1名+SE3名+導入支援2名 ／ 公社側 PM1名+担当者3名 ／ 合計10名体制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投資対効果（ROI）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28600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費目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109728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初年度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188720"/>
            <a:ext cx="109728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2年目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188720"/>
            <a:ext cx="109728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3年目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188720"/>
            <a:ext cx="1097280" cy="41148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累計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2286000" cy="4114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【投資】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600200"/>
            <a:ext cx="1097280" cy="4114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3840480" y="1600200"/>
            <a:ext cx="1097280" cy="4114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4937760" y="1600200"/>
            <a:ext cx="1097280" cy="4114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6035040" y="1600200"/>
            <a:ext cx="1097280" cy="41148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457200" y="201168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SW-100 ライセンス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01168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48,000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201168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48,000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201168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48,000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01168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144,000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42316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E-1000 機器購入（320台）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242316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96,000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242316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242316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42316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96,000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3464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CS-100 サービス利用料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283464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24,000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283464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24,000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283464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24,000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283464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72,000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24612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導入・構築費用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324612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60,000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324612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12,000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324612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324612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72,000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657600"/>
            <a:ext cx="228600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投資合計（千円）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3657600"/>
            <a:ext cx="109728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228,000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0" y="3657600"/>
            <a:ext cx="109728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84,000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7760" y="3657600"/>
            <a:ext cx="109728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72,000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0" y="3657600"/>
            <a:ext cx="109728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384,000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069080"/>
            <a:ext cx="228600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【効果】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4069080"/>
            <a:ext cx="109728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1" name="Rounded Rectangle 40"/>
          <p:cNvSpPr/>
          <p:nvPr/>
        </p:nvSpPr>
        <p:spPr>
          <a:xfrm>
            <a:off x="3840480" y="4069080"/>
            <a:ext cx="109728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2" name="Rounded Rectangle 41"/>
          <p:cNvSpPr/>
          <p:nvPr/>
        </p:nvSpPr>
        <p:spPr>
          <a:xfrm>
            <a:off x="4937760" y="4069080"/>
            <a:ext cx="109728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3" name="Rounded Rectangle 42"/>
          <p:cNvSpPr/>
          <p:nvPr/>
        </p:nvSpPr>
        <p:spPr>
          <a:xfrm>
            <a:off x="6035040" y="4069080"/>
            <a:ext cx="109728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4" name="Rounded Rectangle 43"/>
          <p:cNvSpPr/>
          <p:nvPr/>
        </p:nvSpPr>
        <p:spPr>
          <a:xfrm>
            <a:off x="457200" y="448056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電力コスト削減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0" y="448056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28,800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40480" y="448056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67,200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37760" y="448056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96,000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0" y="448056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192,000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89204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保全コスト削減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0" y="489204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10,800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40480" y="489204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25,200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37760" y="489204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36,000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35040" y="489204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72,000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303520"/>
            <a:ext cx="22860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業務効率化（工数削減）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43200" y="530352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6,000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40480" y="530352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14,000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937760" y="530352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20,000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35040" y="5303520"/>
            <a:ext cx="10972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B2A4A"/>
                </a:solidFill>
              </a:defRPr>
            </a:pPr>
            <a:r>
              <a:t>40,000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5715000"/>
            <a:ext cx="228600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効果合計（千円）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0" y="5715000"/>
            <a:ext cx="109728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45,600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840480" y="5715000"/>
            <a:ext cx="109728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106,400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937760" y="5715000"/>
            <a:ext cx="109728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152,000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35040" y="5715000"/>
            <a:ext cx="1097280" cy="41148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304,000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6126480"/>
            <a:ext cx="228600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累積収支（千円）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43200" y="6126480"/>
            <a:ext cx="109728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▲182,400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40480" y="6126480"/>
            <a:ext cx="109728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▲160,000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937760" y="6126480"/>
            <a:ext cx="109728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▲80,000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35040" y="6126480"/>
            <a:ext cx="1097280" cy="41148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▲80,000</a:t>
            </a:r>
          </a:p>
        </p:txBody>
      </p:sp>
      <p:graphicFrame>
        <p:nvGraphicFramePr>
          <p:cNvPr id="69" name="Chart 68"/>
          <p:cNvGraphicFramePr>
            <a:graphicFrameLocks noGrp="1"/>
          </p:cNvGraphicFramePr>
          <p:nvPr/>
        </p:nvGraphicFramePr>
        <p:xfrm>
          <a:off x="7132320" y="1188720"/>
          <a:ext cx="475488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" name="Rounded Rectangle 69"/>
          <p:cNvSpPr/>
          <p:nvPr/>
        </p:nvSpPr>
        <p:spPr>
          <a:xfrm>
            <a:off x="7772400" y="4572000"/>
            <a:ext cx="3200400" cy="73152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損益分岐点: 4年目（投資回収完了）</a:t>
            </a:r>
          </a:p>
          <a:p>
            <a:pPr algn="ctr">
              <a:defRPr sz="900" b="0">
                <a:solidFill>
                  <a:srgbClr val="FFFFFF"/>
                </a:solidFill>
              </a:defRPr>
            </a:pPr>
            <a:r>
              <a:t>5年間ROI: 115% ｜ 5年間純効果: +8,000万円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772400" y="5394960"/>
            <a:ext cx="3200400" cy="41148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B2A4A"/>
                </a:solidFill>
              </a:defRPr>
            </a:pPr>
            <a:r>
              <a:t>IRR（内部収益率）: 約22% ／ NPV: +6,200万円（割引率5%）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none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次のステップ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0"/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BPS Corporation  |  Confidential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1097280" cy="1005840"/>
          </a:xfrm>
          <a:prstGeom prst="ellipse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1188720"/>
            <a:ext cx="1828800" cy="365760"/>
          </a:xfrm>
          <a:prstGeom prst="roundRect">
            <a:avLst/>
          </a:prstGeom>
          <a:solidFill>
            <a:srgbClr val="1A5C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2026年4月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554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2A4A"/>
                </a:solidFill>
              </a:defRPr>
            </a:pPr>
            <a:r>
              <a:t>本提案のご検討・ご質問対応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713232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B2A4A"/>
                </a:solidFill>
              </a:defRPr>
            </a:pPr>
            <a:r>
              <a:t>本提案書の内容に関するご質問への回答</a:t>
            </a:r>
            <a:br/>
            <a:r>
              <a:t>技術詳細のご説明（オンサイト/Web）</a:t>
            </a:r>
          </a:p>
        </p:txBody>
      </p:sp>
      <p:sp>
        <p:nvSpPr>
          <p:cNvPr id="8" name="Down Arrow 7"/>
          <p:cNvSpPr/>
          <p:nvPr/>
        </p:nvSpPr>
        <p:spPr>
          <a:xfrm>
            <a:off x="914400" y="2194560"/>
            <a:ext cx="182880" cy="274320"/>
          </a:xfrm>
          <a:prstGeom prst="down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2468880"/>
            <a:ext cx="1097280" cy="1005840"/>
          </a:xfrm>
          <a:prstGeom prst="ellipse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2468880"/>
            <a:ext cx="1828800" cy="365760"/>
          </a:xfrm>
          <a:prstGeom prst="roundRect">
            <a:avLst/>
          </a:prstGeom>
          <a:solidFill>
            <a:srgbClr val="3A8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2026年4月〜5月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834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2A4A"/>
                </a:solidFill>
              </a:defRPr>
            </a:pPr>
            <a:r>
              <a:t>パイロット計画の策定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468880"/>
            <a:ext cx="713232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B2A4A"/>
                </a:solidFill>
              </a:defRPr>
            </a:pPr>
            <a:r>
              <a:t>対象拠点（20拠点）の選定</a:t>
            </a:r>
            <a:br/>
            <a:r>
              <a:t>パイロット期間の詳細スケジュール確定</a:t>
            </a:r>
            <a:br/>
            <a:r>
              <a:t>成功基準（KPI）の合意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14400" y="3474720"/>
            <a:ext cx="182880" cy="274320"/>
          </a:xfrm>
          <a:prstGeom prst="down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" y="3749040"/>
            <a:ext cx="1097280" cy="10058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3749040"/>
            <a:ext cx="1828800" cy="36576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2026年5月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114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2A4A"/>
                </a:solidFill>
              </a:defRPr>
            </a:pPr>
            <a:r>
              <a:t>契約手続き・キックオフ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749040"/>
            <a:ext cx="713232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B2A4A"/>
                </a:solidFill>
              </a:defRPr>
            </a:pPr>
            <a:r>
              <a:t>契約条件の最終調整</a:t>
            </a:r>
            <a:br/>
            <a:r>
              <a:t>プロジェクトキックオフミーティング</a:t>
            </a:r>
            <a:br/>
            <a:r>
              <a:t>両社体制の確定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14400" y="4754880"/>
            <a:ext cx="182880" cy="274320"/>
          </a:xfrm>
          <a:prstGeom prst="down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200" y="5029200"/>
            <a:ext cx="1097280" cy="1005840"/>
          </a:xfrm>
          <a:prstGeom prst="ellipse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37360" y="5029200"/>
            <a:ext cx="1828800" cy="365760"/>
          </a:xfrm>
          <a:prstGeom prst="roundRect">
            <a:avLst/>
          </a:prstGeom>
          <a:solidFill>
            <a:srgbClr val="7CC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2026年6月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3949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2A4A"/>
                </a:solidFill>
              </a:defRPr>
            </a:pPr>
            <a:r>
              <a:t>詳細設計開始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5029200"/>
            <a:ext cx="7132320" cy="100584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B2A4A"/>
                </a:solidFill>
              </a:defRPr>
            </a:pPr>
            <a:r>
              <a:t>現地調査（通信環境・設置場所確認）</a:t>
            </a:r>
            <a:br/>
            <a:r>
              <a:t>システム詳細設計</a:t>
            </a:r>
            <a:br/>
            <a:r>
              <a:t>データ移行計画の策定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60720"/>
            <a:ext cx="5486400" cy="73152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88D2A"/>
                </a:solidFill>
              </a:defRPr>
            </a:pPr>
            <a:r>
              <a:t>【お問い合わせ先】</a:t>
            </a:r>
          </a:p>
          <a:p>
            <a:pPr algn="l">
              <a:defRPr sz="1000" b="0">
                <a:solidFill>
                  <a:srgbClr val="FFFFFF"/>
                </a:solidFill>
              </a:defRPr>
            </a:pPr>
            <a:r>
              <a:t>BPS Corporation エネルギーソリューション事業部  山田 太郎</a:t>
            </a:r>
          </a:p>
          <a:p>
            <a:pPr algn="l">
              <a:defRPr sz="900" b="0">
                <a:solidFill>
                  <a:srgbClr val="3A8FC1"/>
                </a:solidFill>
              </a:defRPr>
            </a:pPr>
            <a:r>
              <a:t>TEL: 03-XXXX-XXXX ／ Email: t.yamada@bps-corp.example.com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760720"/>
            <a:ext cx="5303520" cy="731520"/>
          </a:xfrm>
          <a:prstGeom prst="roundRect">
            <a:avLst/>
          </a:prstGeom>
          <a:solidFill>
            <a:srgbClr val="E88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</a:defRPr>
            </a:pPr>
            <a:r>
              <a:t>【早期ご発注特典】2026年5月末までのご契約で</a:t>
            </a:r>
          </a:p>
          <a:p>
            <a:pPr algn="l">
              <a:defRPr sz="1000" b="1">
                <a:solidFill>
                  <a:srgbClr val="FFFFFF"/>
                </a:solidFill>
              </a:defRPr>
            </a:pPr>
            <a:r>
              <a:t>初年度ライセンス料15%OFF＋導入支援サービス（200万円相当）無償提供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