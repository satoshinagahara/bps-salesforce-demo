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累積投資（万円）</c:v>
                </c:pt>
              </c:strCache>
            </c:strRef>
          </c:tx>
          <c:spPr>
            <a:solidFill>
              <a:srgbClr val="C0392B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初年度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</c:v>
                </c:pt>
                <c:pt idx="1">
                  <c:v>1140</c:v>
                </c:pt>
                <c:pt idx="2">
                  <c:v>1380</c:v>
                </c:pt>
                <c:pt idx="3">
                  <c:v>1620</c:v>
                </c:pt>
                <c:pt idx="4">
                  <c:v>1860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累積効果（万円）</c:v>
                </c:pt>
              </c:strCache>
            </c:strRef>
          </c:tx>
          <c:spPr>
            <a:solidFill>
              <a:srgbClr val="2E8B57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初年度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300</c:v>
                </c:pt>
                <c:pt idx="1">
                  <c:v>800</c:v>
                </c:pt>
                <c:pt idx="2">
                  <c:v>1300</c:v>
                </c:pt>
                <c:pt idx="3">
                  <c:v>1800</c:v>
                </c:pt>
                <c:pt idx="4">
                  <c:v>2300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3657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C47C"/>
                </a:solidFill>
              </a:defRPr>
            </a:pPr>
            <a:r>
              <a:t>BPS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A8FC1"/>
                </a:solidFill>
              </a:defRPr>
            </a:pPr>
            <a:r>
              <a:t>Renewable Energy Solutions for a Sustainable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工場エネルギー可視化システム導入提案書</a:t>
            </a:r>
          </a:p>
          <a:p>
            <a:pPr>
              <a:defRPr sz="1800" i="1">
                <a:solidFill>
                  <a:srgbClr val="E88D2A"/>
                </a:solidFill>
              </a:defRPr>
            </a:pPr>
            <a:r>
              <a:t>〜 GHG排出量Scope 1/2報告義務化への確実な対応 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88D2A"/>
                </a:solidFill>
              </a:defRPr>
            </a:pPr>
            <a:r>
              <a:t>北陸製薬株式会社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2026年3月27日</a:t>
            </a:r>
          </a:p>
          <a:p>
            <a:pPr>
              <a:defRPr sz="1400">
                <a:solidFill>
                  <a:srgbClr val="7F8C8D"/>
                </a:solidFill>
              </a:defRPr>
            </a:pPr>
            <a:r>
              <a:t>BPS Corporation エネルギーソリューション事業部</a:t>
            </a:r>
          </a:p>
          <a:p>
            <a:pPr>
              <a:defRPr sz="1200">
                <a:solidFill>
                  <a:srgbClr val="7F8C8D"/>
                </a:solidFill>
              </a:defRPr>
            </a:pPr>
            <a:r>
              <a:t>提案担当: 山田 太郎 / ソリューションアーキテクト: 鈴木 花子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43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0392B"/>
                </a:solidFill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286000" cy="54864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提案番号: BP-2026-0298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03120"/>
            <a:ext cx="228600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対象: 富山本社工場・金沢第2工場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規制環境と対応の緊急性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  |  BP-2026-0298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5486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91640"/>
            <a:ext cx="320040" cy="320040"/>
          </a:xfrm>
          <a:prstGeom prst="ellipse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C8E"/>
                </a:solidFill>
              </a:defRPr>
            </a:pPr>
            <a:r>
              <a:t>2025年度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194560" cy="91440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温対法改正</a:t>
            </a:r>
            <a:br/>
            <a:r>
              <a:t>報告義務範囲拡大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691640"/>
            <a:ext cx="320040" cy="32004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01752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2026年度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103120"/>
            <a:ext cx="2194560" cy="9144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大規模事業者</a:t>
            </a:r>
            <a:br/>
            <a:r>
              <a:t>Scope 1/2報告</a:t>
            </a:r>
            <a:br/>
            <a:r>
              <a:t>準備期間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169164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57784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2027年度〜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103120"/>
            <a:ext cx="219456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Scope 1/2</a:t>
            </a:r>
            <a:br/>
            <a:r>
              <a:t>報告義務化開始</a:t>
            </a:r>
            <a:br/>
            <a:r>
              <a:t>（罰則適用）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691640"/>
            <a:ext cx="320040" cy="320040"/>
          </a:xfrm>
          <a:prstGeom prst="ellipse">
            <a:avLst/>
          </a:prstGeom>
          <a:solidFill>
            <a:srgbClr val="6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2960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C3D8F"/>
                </a:solidFill>
              </a:defRPr>
            </a:pPr>
            <a:r>
              <a:t>2030年度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2194560" cy="914400"/>
          </a:xfrm>
          <a:prstGeom prst="roundRect">
            <a:avLst/>
          </a:prstGeom>
          <a:solidFill>
            <a:srgbClr val="6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46%削減目標</a:t>
            </a:r>
            <a:br/>
            <a:r>
              <a:t>（2013年度比）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417320"/>
            <a:ext cx="10972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◀ 現在地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530352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⚠ 未対応時のリスク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報告義務違反: 最大50万円の罰金＋企業名公表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虚偽報告: 刑事罰の対象（温対法第74条）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ESG評価低下: 取引先・投資家からの信用毀損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製薬業界CSR基準不適合リスク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91840"/>
            <a:ext cx="5303520" cy="13716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8D2A"/>
                </a:solidFill>
              </a:defRPr>
            </a:pPr>
            <a:r>
              <a:t>製薬業界の先行対応事例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大手A社: 2024年度よりScope 1/2自動算定を導入済み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大手B社: 全工場にエネルギーメーター設置完了（2025年）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中堅C社: PoC実施後に全拠点展開、報告工数80%削減</a:t>
            </a:r>
          </a:p>
          <a:p>
            <a:pPr algn="l">
              <a:defRPr sz="1000" b="1">
                <a:solidFill>
                  <a:srgbClr val="E88D2A"/>
                </a:solidFill>
              </a:defRPr>
            </a:pPr>
            <a:r>
              <a:t>→ 業界標準として対応が加速中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1828800" cy="10972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2027年度</a:t>
            </a:r>
            <a:br/>
            <a:r>
              <a:t>Scope 1/2</a:t>
            </a:r>
            <a:br/>
            <a:r>
              <a:t>報告義務化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286000" y="530352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4937760"/>
            <a:ext cx="1828800" cy="10972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富山本社工場</a:t>
            </a:r>
            <a:br/>
            <a:r>
              <a:t>金沢第2工場</a:t>
            </a:r>
            <a:br/>
            <a:r>
              <a:t>対象確定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530352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0" y="4937760"/>
            <a:ext cx="1828800" cy="10972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排出量算定</a:t>
            </a:r>
            <a:br/>
            <a:r>
              <a:t>体制構築必須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58000" y="530352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4937760"/>
            <a:ext cx="1828800" cy="10972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計測基盤</a:t>
            </a:r>
            <a:br/>
            <a:r>
              <a:t>未整備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144000" y="530352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4937760"/>
            <a:ext cx="1828800" cy="10972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今すぐ</a:t>
            </a:r>
            <a:br/>
            <a:r>
              <a:t>準備開始が</a:t>
            </a:r>
            <a:br/>
            <a:r>
              <a:t>必要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6217920"/>
            <a:ext cx="32004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報告義務化まで残り約12ヶ月 — 準備期間は限られています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現状課題の可視化 — Excel手作業の限界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  |  BP-2026-0298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926080"/>
            <a:ext cx="2926080" cy="10972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現状の課題</a:t>
            </a:r>
            <a:br/>
            <a:r>
              <a:t>Excel月次集計体制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1554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8D2A"/>
                </a:solidFill>
              </a:defRPr>
            </a:pPr>
            <a:r>
              <a:t>課題1: データサイロ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富山工場と金沢工場のデータが分断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電力・ガス・水の計測が個別管理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各部門がExcelを独自フォーマットで管理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Scope 1/2の一元的な算定が不可能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57600" cy="1554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8D2A"/>
                </a:solidFill>
              </a:defRPr>
            </a:pPr>
            <a:r>
              <a:t>課題2: 人的ミスリスク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手入力によるデータ転記ミス（月平均3件）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排出係数の適用間違い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報告値の信頼性に疑義が生じるリスク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第三者検証時の指摘事項増加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389120"/>
            <a:ext cx="3657600" cy="1554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8D2A"/>
                </a:solidFill>
              </a:defRPr>
            </a:pPr>
            <a:r>
              <a:t>課題3: 報告遅延・工数負荷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月次レポート作成に環境管理部で5人日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データ収集〜報告書完成まで2週間以上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年度報告書の作成に約1ヶ月を要する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環境報告書への自動連携が不可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657600" cy="1554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8D2A"/>
                </a:solidFill>
              </a:defRPr>
            </a:pPr>
            <a:r>
              <a:t>課題4: リアルタイム監視不在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エネルギー異常消費の即時検知ができない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設備異常による無駄なエネルギー消費が放置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ピークカット制御の自動化が未対応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GMP対象設備の環境逸脱リスク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1691640"/>
            <a:ext cx="73152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406640" y="1691640"/>
            <a:ext cx="73152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931920" y="4937760"/>
            <a:ext cx="73152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406640" y="4937760"/>
            <a:ext cx="73152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6126480"/>
            <a:ext cx="2286000" cy="5029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比較項目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6126480"/>
            <a:ext cx="4572000" cy="5029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富山本社工場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6126480"/>
            <a:ext cx="4572000" cy="5029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金沢第2工場</a:t>
            </a:r>
          </a:p>
        </p:txBody>
      </p:sp>
      <p:sp>
        <p:nvSpPr>
          <p:cNvPr id="16" name="Oval 15"/>
          <p:cNvSpPr/>
          <p:nvPr/>
        </p:nvSpPr>
        <p:spPr>
          <a:xfrm>
            <a:off x="4206240" y="2743200"/>
            <a:ext cx="77724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</a:defRPr>
            </a:pPr>
            <a:r>
              <a:t>深刻度:高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2743200"/>
            <a:ext cx="77724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</a:defRPr>
            </a:pPr>
            <a:r>
              <a:t>深刻度:高</a:t>
            </a:r>
          </a:p>
        </p:txBody>
      </p:sp>
      <p:sp>
        <p:nvSpPr>
          <p:cNvPr id="18" name="Oval 17"/>
          <p:cNvSpPr/>
          <p:nvPr/>
        </p:nvSpPr>
        <p:spPr>
          <a:xfrm>
            <a:off x="4206240" y="5806440"/>
            <a:ext cx="777240" cy="2286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</a:defRPr>
            </a:pPr>
            <a:r>
              <a:t>深刻度:中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0" y="5806440"/>
            <a:ext cx="777240" cy="2286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</a:defRPr>
            </a:pPr>
            <a:r>
              <a:t>深刻度:中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提案ソリューション — SW-100 + E-1000 構成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  |  BP-2026-0298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2926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2860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富山本社工場（PoC先行）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463040" cy="8229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E-1000</a:t>
            </a:r>
            <a:br/>
            <a:r>
              <a:t>電力メーター</a:t>
            </a:r>
            <a:br/>
            <a:r>
              <a:t>×8台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737360"/>
            <a:ext cx="1463040" cy="8229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E-1000</a:t>
            </a:r>
            <a:br/>
            <a:r>
              <a:t>ガスメーター</a:t>
            </a:r>
            <a:br/>
            <a:r>
              <a:t>×6台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737360"/>
            <a:ext cx="1463040" cy="8229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E-1000</a:t>
            </a:r>
            <a:br/>
            <a:r>
              <a:t>蒸気メーター</a:t>
            </a:r>
            <a:br/>
            <a:r>
              <a:t>×6台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2286000" cy="6400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GMP対応: 防爆仕様</a:t>
            </a:r>
            <a:br/>
            <a:r>
              <a:t>クリーンルーム外設置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743200"/>
            <a:ext cx="2286000" cy="6400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非接触型センサー採用</a:t>
            </a:r>
            <a:br/>
            <a:r>
              <a:t>GMP区域への影響なし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4754880" cy="45720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IoTゲートウェイ（MQTT/HTTPS）→ クラウド送信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97280"/>
            <a:ext cx="5303520" cy="2926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5943600" y="1097280"/>
            <a:ext cx="228600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金沢第2工場（Phase 3展開）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1463040" cy="8229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E-1000</a:t>
            </a:r>
            <a:br/>
            <a:r>
              <a:t>電力メーター</a:t>
            </a:r>
            <a:br/>
            <a:r>
              <a:t>×10台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737360"/>
            <a:ext cx="1463040" cy="8229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E-1000</a:t>
            </a:r>
            <a:br/>
            <a:r>
              <a:t>ガスメーター</a:t>
            </a:r>
            <a:br/>
            <a:r>
              <a:t>×5台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737360"/>
            <a:ext cx="1463040" cy="8229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E-1000</a:t>
            </a:r>
            <a:br/>
            <a:r>
              <a:t>蒸気メーター</a:t>
            </a:r>
            <a:br/>
            <a:r>
              <a:t>×5台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743200"/>
            <a:ext cx="2286000" cy="6400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製造ライン近接設置</a:t>
            </a:r>
            <a:br/>
            <a:r>
              <a:t>振動・温度影響を考慮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743200"/>
            <a:ext cx="2286000" cy="6400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既設富士通NW環境</a:t>
            </a:r>
            <a:br/>
            <a:r>
              <a:t>との共存設計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4754880" cy="45720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IoTゲートウェイ（MQTT/HTTPS）→ クラウド送信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560320" y="4114800"/>
            <a:ext cx="320040" cy="457200"/>
          </a:xfrm>
          <a:prstGeom prst="downArrow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8229600" y="4114800"/>
            <a:ext cx="320040" cy="457200"/>
          </a:xfrm>
          <a:prstGeom prst="downArrow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4663440"/>
            <a:ext cx="9418320" cy="9144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8D2A"/>
                </a:solidFill>
              </a:defRPr>
            </a:pPr>
            <a:r>
              <a:t>SW-100 エネルギー管理プラットフォーム（クラウド）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リアルタイム監視 | 異常検知 | Scope 1/2自動算定 | 環境報告書データ出力 | API連携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760720"/>
            <a:ext cx="1920240" cy="7772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計測データ</a:t>
            </a:r>
            <a:br/>
            <a:r>
              <a:t>自動収集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194560" y="59893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51760" y="5760720"/>
            <a:ext cx="1920240" cy="77724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排出係数</a:t>
            </a:r>
            <a:br/>
            <a:r>
              <a:t>自動適用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572000" y="59893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0" y="5760720"/>
            <a:ext cx="1920240" cy="77724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Scope 1</a:t>
            </a:r>
            <a:br/>
            <a:r>
              <a:t>算定</a:t>
            </a:r>
            <a:br/>
            <a:r>
              <a:t>（直接排出）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949440" y="59893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5760720"/>
            <a:ext cx="1920240" cy="77724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Scope 2</a:t>
            </a:r>
            <a:br/>
            <a:r>
              <a:t>算定</a:t>
            </a:r>
            <a:br/>
            <a:r>
              <a:t>（間接排出）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26880" y="59893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84080" y="5760720"/>
            <a:ext cx="1920240" cy="777240"/>
          </a:xfrm>
          <a:prstGeom prst="roundRect">
            <a:avLst/>
          </a:prstGeom>
          <a:solidFill>
            <a:srgbClr val="6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環境報告書</a:t>
            </a:r>
            <a:br/>
            <a:r>
              <a:t>データ連携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583680"/>
            <a:ext cx="5486400" cy="1828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F8C8D"/>
                </a:solidFill>
              </a:defRPr>
            </a:pPr>
            <a:r>
              <a:t>※ E-1000 合計40台（富山20台＋金沢20台）、SW-100ライセンス1式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6583680"/>
            <a:ext cx="5486400" cy="1828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F8C8D"/>
                </a:solidFill>
              </a:defRPr>
            </a:pPr>
            <a:r>
              <a:t>※ 既設ITインフラ（富士通管理）との連携設計を含む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導入ロードマップ — 段階的導入計画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  |  BP-2026-0298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フェーズ / タスク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2026/7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2027/1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0" y="1188720"/>
            <a:ext cx="82296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00200"/>
            <a:ext cx="27432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Phase 1: 富山工場PoC（3ヶ月）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1600200"/>
            <a:ext cx="82296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023360" y="1600200"/>
            <a:ext cx="82296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4846320" y="1600200"/>
            <a:ext cx="82296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ectangle 19"/>
          <p:cNvSpPr/>
          <p:nvPr/>
        </p:nvSpPr>
        <p:spPr>
          <a:xfrm>
            <a:off x="566928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ectangle 20"/>
          <p:cNvSpPr/>
          <p:nvPr/>
        </p:nvSpPr>
        <p:spPr>
          <a:xfrm>
            <a:off x="649224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Rectangle 21"/>
          <p:cNvSpPr/>
          <p:nvPr/>
        </p:nvSpPr>
        <p:spPr>
          <a:xfrm>
            <a:off x="731520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Rectangle 22"/>
          <p:cNvSpPr/>
          <p:nvPr/>
        </p:nvSpPr>
        <p:spPr>
          <a:xfrm>
            <a:off x="813816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896112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Rectangle 24"/>
          <p:cNvSpPr/>
          <p:nvPr/>
        </p:nvSpPr>
        <p:spPr>
          <a:xfrm>
            <a:off x="978408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ectangle 25"/>
          <p:cNvSpPr/>
          <p:nvPr/>
        </p:nvSpPr>
        <p:spPr>
          <a:xfrm>
            <a:off x="1060704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Rectangle 26"/>
          <p:cNvSpPr/>
          <p:nvPr/>
        </p:nvSpPr>
        <p:spPr>
          <a:xfrm>
            <a:off x="11430000" y="16002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457200" y="201168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要件定義・現地調査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2011680"/>
            <a:ext cx="82296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Rectangle 29"/>
          <p:cNvSpPr/>
          <p:nvPr/>
        </p:nvSpPr>
        <p:spPr>
          <a:xfrm>
            <a:off x="402336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ectangle 30"/>
          <p:cNvSpPr/>
          <p:nvPr/>
        </p:nvSpPr>
        <p:spPr>
          <a:xfrm>
            <a:off x="484632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Rectangle 31"/>
          <p:cNvSpPr/>
          <p:nvPr/>
        </p:nvSpPr>
        <p:spPr>
          <a:xfrm>
            <a:off x="566928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Rectangle 32"/>
          <p:cNvSpPr/>
          <p:nvPr/>
        </p:nvSpPr>
        <p:spPr>
          <a:xfrm>
            <a:off x="649224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Rectangle 33"/>
          <p:cNvSpPr/>
          <p:nvPr/>
        </p:nvSpPr>
        <p:spPr>
          <a:xfrm>
            <a:off x="731520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Rectangle 34"/>
          <p:cNvSpPr/>
          <p:nvPr/>
        </p:nvSpPr>
        <p:spPr>
          <a:xfrm>
            <a:off x="813816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Rectangle 35"/>
          <p:cNvSpPr/>
          <p:nvPr/>
        </p:nvSpPr>
        <p:spPr>
          <a:xfrm>
            <a:off x="896112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Rectangle 36"/>
          <p:cNvSpPr/>
          <p:nvPr/>
        </p:nvSpPr>
        <p:spPr>
          <a:xfrm>
            <a:off x="978408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Rectangle 37"/>
          <p:cNvSpPr/>
          <p:nvPr/>
        </p:nvSpPr>
        <p:spPr>
          <a:xfrm>
            <a:off x="1060704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Rectangle 38"/>
          <p:cNvSpPr/>
          <p:nvPr/>
        </p:nvSpPr>
        <p:spPr>
          <a:xfrm>
            <a:off x="11430000" y="20116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457200" y="242316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E-1000設置（富山20台）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4023360" y="2423160"/>
            <a:ext cx="82296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Rectangle 42"/>
          <p:cNvSpPr/>
          <p:nvPr/>
        </p:nvSpPr>
        <p:spPr>
          <a:xfrm>
            <a:off x="484632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Rectangle 43"/>
          <p:cNvSpPr/>
          <p:nvPr/>
        </p:nvSpPr>
        <p:spPr>
          <a:xfrm>
            <a:off x="566928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Rectangle 44"/>
          <p:cNvSpPr/>
          <p:nvPr/>
        </p:nvSpPr>
        <p:spPr>
          <a:xfrm>
            <a:off x="649224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Rectangle 45"/>
          <p:cNvSpPr/>
          <p:nvPr/>
        </p:nvSpPr>
        <p:spPr>
          <a:xfrm>
            <a:off x="731520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7" name="Rectangle 46"/>
          <p:cNvSpPr/>
          <p:nvPr/>
        </p:nvSpPr>
        <p:spPr>
          <a:xfrm>
            <a:off x="813816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8" name="Rectangle 47"/>
          <p:cNvSpPr/>
          <p:nvPr/>
        </p:nvSpPr>
        <p:spPr>
          <a:xfrm>
            <a:off x="896112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Rectangle 48"/>
          <p:cNvSpPr/>
          <p:nvPr/>
        </p:nvSpPr>
        <p:spPr>
          <a:xfrm>
            <a:off x="978408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0" name="Rectangle 49"/>
          <p:cNvSpPr/>
          <p:nvPr/>
        </p:nvSpPr>
        <p:spPr>
          <a:xfrm>
            <a:off x="1060704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1" name="Rectangle 50"/>
          <p:cNvSpPr/>
          <p:nvPr/>
        </p:nvSpPr>
        <p:spPr>
          <a:xfrm>
            <a:off x="11430000" y="24231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457200" y="283464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SW-100環境構築・PoC検証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4" name="Rounded Rectangle 53"/>
          <p:cNvSpPr/>
          <p:nvPr/>
        </p:nvSpPr>
        <p:spPr>
          <a:xfrm>
            <a:off x="4023360" y="2834640"/>
            <a:ext cx="82296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5" name="Rounded Rectangle 54"/>
          <p:cNvSpPr/>
          <p:nvPr/>
        </p:nvSpPr>
        <p:spPr>
          <a:xfrm>
            <a:off x="4846320" y="2834640"/>
            <a:ext cx="82296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6" name="Rectangle 55"/>
          <p:cNvSpPr/>
          <p:nvPr/>
        </p:nvSpPr>
        <p:spPr>
          <a:xfrm>
            <a:off x="566928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7" name="Rectangle 56"/>
          <p:cNvSpPr/>
          <p:nvPr/>
        </p:nvSpPr>
        <p:spPr>
          <a:xfrm>
            <a:off x="649224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8" name="Rectangle 57"/>
          <p:cNvSpPr/>
          <p:nvPr/>
        </p:nvSpPr>
        <p:spPr>
          <a:xfrm>
            <a:off x="731520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9" name="Rectangle 58"/>
          <p:cNvSpPr/>
          <p:nvPr/>
        </p:nvSpPr>
        <p:spPr>
          <a:xfrm>
            <a:off x="813816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0" name="Rectangle 59"/>
          <p:cNvSpPr/>
          <p:nvPr/>
        </p:nvSpPr>
        <p:spPr>
          <a:xfrm>
            <a:off x="896112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1" name="Rectangle 60"/>
          <p:cNvSpPr/>
          <p:nvPr/>
        </p:nvSpPr>
        <p:spPr>
          <a:xfrm>
            <a:off x="978408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2" name="Rectangle 61"/>
          <p:cNvSpPr/>
          <p:nvPr/>
        </p:nvSpPr>
        <p:spPr>
          <a:xfrm>
            <a:off x="1060704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Rectangle 62"/>
          <p:cNvSpPr/>
          <p:nvPr/>
        </p:nvSpPr>
        <p:spPr>
          <a:xfrm>
            <a:off x="11430000" y="28346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4" name="Rounded Rectangle 63"/>
          <p:cNvSpPr/>
          <p:nvPr/>
        </p:nvSpPr>
        <p:spPr>
          <a:xfrm>
            <a:off x="457200" y="324612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PoC効果測定・報告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6" name="Rectangle 65"/>
          <p:cNvSpPr/>
          <p:nvPr/>
        </p:nvSpPr>
        <p:spPr>
          <a:xfrm>
            <a:off x="402336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7" name="Rounded Rectangle 66"/>
          <p:cNvSpPr/>
          <p:nvPr/>
        </p:nvSpPr>
        <p:spPr>
          <a:xfrm>
            <a:off x="4846320" y="3246120"/>
            <a:ext cx="82296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8" name="Rectangle 67"/>
          <p:cNvSpPr/>
          <p:nvPr/>
        </p:nvSpPr>
        <p:spPr>
          <a:xfrm>
            <a:off x="566928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9" name="Rectangle 68"/>
          <p:cNvSpPr/>
          <p:nvPr/>
        </p:nvSpPr>
        <p:spPr>
          <a:xfrm>
            <a:off x="649224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0" name="Rectangle 69"/>
          <p:cNvSpPr/>
          <p:nvPr/>
        </p:nvSpPr>
        <p:spPr>
          <a:xfrm>
            <a:off x="731520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1" name="Rectangle 70"/>
          <p:cNvSpPr/>
          <p:nvPr/>
        </p:nvSpPr>
        <p:spPr>
          <a:xfrm>
            <a:off x="813816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2" name="Rectangle 71"/>
          <p:cNvSpPr/>
          <p:nvPr/>
        </p:nvSpPr>
        <p:spPr>
          <a:xfrm>
            <a:off x="896112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" name="Rectangle 72"/>
          <p:cNvSpPr/>
          <p:nvPr/>
        </p:nvSpPr>
        <p:spPr>
          <a:xfrm>
            <a:off x="978408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4" name="Rectangle 73"/>
          <p:cNvSpPr/>
          <p:nvPr/>
        </p:nvSpPr>
        <p:spPr>
          <a:xfrm>
            <a:off x="1060704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5" name="Rectangle 74"/>
          <p:cNvSpPr/>
          <p:nvPr/>
        </p:nvSpPr>
        <p:spPr>
          <a:xfrm>
            <a:off x="11430000" y="32461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6" name="Rounded Rectangle 75"/>
          <p:cNvSpPr/>
          <p:nvPr/>
        </p:nvSpPr>
        <p:spPr>
          <a:xfrm>
            <a:off x="457200" y="3657600"/>
            <a:ext cx="27432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Phase 2: 富山本格導入（3ヶ月）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8" name="Rectangle 77"/>
          <p:cNvSpPr/>
          <p:nvPr/>
        </p:nvSpPr>
        <p:spPr>
          <a:xfrm>
            <a:off x="402336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9" name="Rectangle 78"/>
          <p:cNvSpPr/>
          <p:nvPr/>
        </p:nvSpPr>
        <p:spPr>
          <a:xfrm>
            <a:off x="484632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0" name="Rounded Rectangle 79"/>
          <p:cNvSpPr/>
          <p:nvPr/>
        </p:nvSpPr>
        <p:spPr>
          <a:xfrm>
            <a:off x="5669280" y="3657600"/>
            <a:ext cx="82296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1" name="Rounded Rectangle 80"/>
          <p:cNvSpPr/>
          <p:nvPr/>
        </p:nvSpPr>
        <p:spPr>
          <a:xfrm>
            <a:off x="6492240" y="3657600"/>
            <a:ext cx="82296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2" name="Rounded Rectangle 81"/>
          <p:cNvSpPr/>
          <p:nvPr/>
        </p:nvSpPr>
        <p:spPr>
          <a:xfrm>
            <a:off x="7315200" y="3657600"/>
            <a:ext cx="82296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3" name="Rectangle 82"/>
          <p:cNvSpPr/>
          <p:nvPr/>
        </p:nvSpPr>
        <p:spPr>
          <a:xfrm>
            <a:off x="813816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4" name="Rectangle 83"/>
          <p:cNvSpPr/>
          <p:nvPr/>
        </p:nvSpPr>
        <p:spPr>
          <a:xfrm>
            <a:off x="896112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5" name="Rectangle 84"/>
          <p:cNvSpPr/>
          <p:nvPr/>
        </p:nvSpPr>
        <p:spPr>
          <a:xfrm>
            <a:off x="978408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6" name="Rectangle 85"/>
          <p:cNvSpPr/>
          <p:nvPr/>
        </p:nvSpPr>
        <p:spPr>
          <a:xfrm>
            <a:off x="1060704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7" name="Rectangle 86"/>
          <p:cNvSpPr/>
          <p:nvPr/>
        </p:nvSpPr>
        <p:spPr>
          <a:xfrm>
            <a:off x="11430000" y="36576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8" name="Rounded Rectangle 87"/>
          <p:cNvSpPr/>
          <p:nvPr/>
        </p:nvSpPr>
        <p:spPr>
          <a:xfrm>
            <a:off x="457200" y="406908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本格構築・チューニング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0" name="Rectangle 89"/>
          <p:cNvSpPr/>
          <p:nvPr/>
        </p:nvSpPr>
        <p:spPr>
          <a:xfrm>
            <a:off x="402336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1" name="Rectangle 90"/>
          <p:cNvSpPr/>
          <p:nvPr/>
        </p:nvSpPr>
        <p:spPr>
          <a:xfrm>
            <a:off x="484632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2" name="Rounded Rectangle 91"/>
          <p:cNvSpPr/>
          <p:nvPr/>
        </p:nvSpPr>
        <p:spPr>
          <a:xfrm>
            <a:off x="5669280" y="4069080"/>
            <a:ext cx="82296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3" name="Rounded Rectangle 92"/>
          <p:cNvSpPr/>
          <p:nvPr/>
        </p:nvSpPr>
        <p:spPr>
          <a:xfrm>
            <a:off x="6492240" y="4069080"/>
            <a:ext cx="82296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4" name="Rectangle 93"/>
          <p:cNvSpPr/>
          <p:nvPr/>
        </p:nvSpPr>
        <p:spPr>
          <a:xfrm>
            <a:off x="731520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5" name="Rectangle 94"/>
          <p:cNvSpPr/>
          <p:nvPr/>
        </p:nvSpPr>
        <p:spPr>
          <a:xfrm>
            <a:off x="813816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6" name="Rectangle 95"/>
          <p:cNvSpPr/>
          <p:nvPr/>
        </p:nvSpPr>
        <p:spPr>
          <a:xfrm>
            <a:off x="896112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7" name="Rectangle 96"/>
          <p:cNvSpPr/>
          <p:nvPr/>
        </p:nvSpPr>
        <p:spPr>
          <a:xfrm>
            <a:off x="978408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8" name="Rectangle 97"/>
          <p:cNvSpPr/>
          <p:nvPr/>
        </p:nvSpPr>
        <p:spPr>
          <a:xfrm>
            <a:off x="1060704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9" name="Rectangle 98"/>
          <p:cNvSpPr/>
          <p:nvPr/>
        </p:nvSpPr>
        <p:spPr>
          <a:xfrm>
            <a:off x="11430000" y="40690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0" name="Rounded Rectangle 99"/>
          <p:cNvSpPr/>
          <p:nvPr/>
        </p:nvSpPr>
        <p:spPr>
          <a:xfrm>
            <a:off x="457200" y="448056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Scope 1/2算定機能設定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2" name="Rectangle 101"/>
          <p:cNvSpPr/>
          <p:nvPr/>
        </p:nvSpPr>
        <p:spPr>
          <a:xfrm>
            <a:off x="402336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3" name="Rectangle 102"/>
          <p:cNvSpPr/>
          <p:nvPr/>
        </p:nvSpPr>
        <p:spPr>
          <a:xfrm>
            <a:off x="484632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4" name="Rectangle 103"/>
          <p:cNvSpPr/>
          <p:nvPr/>
        </p:nvSpPr>
        <p:spPr>
          <a:xfrm>
            <a:off x="566928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5" name="Rounded Rectangle 104"/>
          <p:cNvSpPr/>
          <p:nvPr/>
        </p:nvSpPr>
        <p:spPr>
          <a:xfrm>
            <a:off x="6492240" y="4480560"/>
            <a:ext cx="82296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6" name="Rounded Rectangle 105"/>
          <p:cNvSpPr/>
          <p:nvPr/>
        </p:nvSpPr>
        <p:spPr>
          <a:xfrm>
            <a:off x="7315200" y="4480560"/>
            <a:ext cx="82296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7" name="Rectangle 106"/>
          <p:cNvSpPr/>
          <p:nvPr/>
        </p:nvSpPr>
        <p:spPr>
          <a:xfrm>
            <a:off x="813816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8" name="Rectangle 107"/>
          <p:cNvSpPr/>
          <p:nvPr/>
        </p:nvSpPr>
        <p:spPr>
          <a:xfrm>
            <a:off x="896112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9" name="Rectangle 108"/>
          <p:cNvSpPr/>
          <p:nvPr/>
        </p:nvSpPr>
        <p:spPr>
          <a:xfrm>
            <a:off x="978408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0" name="Rectangle 109"/>
          <p:cNvSpPr/>
          <p:nvPr/>
        </p:nvSpPr>
        <p:spPr>
          <a:xfrm>
            <a:off x="1060704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1" name="Rectangle 110"/>
          <p:cNvSpPr/>
          <p:nvPr/>
        </p:nvSpPr>
        <p:spPr>
          <a:xfrm>
            <a:off x="11430000" y="44805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2" name="Rounded Rectangle 111"/>
          <p:cNvSpPr/>
          <p:nvPr/>
        </p:nvSpPr>
        <p:spPr>
          <a:xfrm>
            <a:off x="457200" y="489204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環境報告書連携テスト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4" name="Rectangle 113"/>
          <p:cNvSpPr/>
          <p:nvPr/>
        </p:nvSpPr>
        <p:spPr>
          <a:xfrm>
            <a:off x="402336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5" name="Rectangle 114"/>
          <p:cNvSpPr/>
          <p:nvPr/>
        </p:nvSpPr>
        <p:spPr>
          <a:xfrm>
            <a:off x="484632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6" name="Rectangle 115"/>
          <p:cNvSpPr/>
          <p:nvPr/>
        </p:nvSpPr>
        <p:spPr>
          <a:xfrm>
            <a:off x="566928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7" name="Rectangle 116"/>
          <p:cNvSpPr/>
          <p:nvPr/>
        </p:nvSpPr>
        <p:spPr>
          <a:xfrm>
            <a:off x="649224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8" name="Rounded Rectangle 117"/>
          <p:cNvSpPr/>
          <p:nvPr/>
        </p:nvSpPr>
        <p:spPr>
          <a:xfrm>
            <a:off x="7315200" y="4892040"/>
            <a:ext cx="82296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9" name="Rectangle 118"/>
          <p:cNvSpPr/>
          <p:nvPr/>
        </p:nvSpPr>
        <p:spPr>
          <a:xfrm>
            <a:off x="813816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0" name="Rectangle 119"/>
          <p:cNvSpPr/>
          <p:nvPr/>
        </p:nvSpPr>
        <p:spPr>
          <a:xfrm>
            <a:off x="896112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1" name="Rectangle 120"/>
          <p:cNvSpPr/>
          <p:nvPr/>
        </p:nvSpPr>
        <p:spPr>
          <a:xfrm>
            <a:off x="978408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2" name="Rectangle 121"/>
          <p:cNvSpPr/>
          <p:nvPr/>
        </p:nvSpPr>
        <p:spPr>
          <a:xfrm>
            <a:off x="1060704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3" name="Rectangle 122"/>
          <p:cNvSpPr/>
          <p:nvPr/>
        </p:nvSpPr>
        <p:spPr>
          <a:xfrm>
            <a:off x="11430000" y="48920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4" name="Rounded Rectangle 123"/>
          <p:cNvSpPr/>
          <p:nvPr/>
        </p:nvSpPr>
        <p:spPr>
          <a:xfrm>
            <a:off x="457200" y="5303520"/>
            <a:ext cx="274320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Phase 3: 金沢横展開（3ヶ月+）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0" y="53035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6" name="Rectangle 125"/>
          <p:cNvSpPr/>
          <p:nvPr/>
        </p:nvSpPr>
        <p:spPr>
          <a:xfrm>
            <a:off x="4023360" y="53035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7" name="Rectangle 126"/>
          <p:cNvSpPr/>
          <p:nvPr/>
        </p:nvSpPr>
        <p:spPr>
          <a:xfrm>
            <a:off x="4846320" y="53035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8" name="Rectangle 127"/>
          <p:cNvSpPr/>
          <p:nvPr/>
        </p:nvSpPr>
        <p:spPr>
          <a:xfrm>
            <a:off x="5669280" y="53035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9" name="Rectangle 128"/>
          <p:cNvSpPr/>
          <p:nvPr/>
        </p:nvSpPr>
        <p:spPr>
          <a:xfrm>
            <a:off x="6492240" y="53035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0" name="Rectangle 129"/>
          <p:cNvSpPr/>
          <p:nvPr/>
        </p:nvSpPr>
        <p:spPr>
          <a:xfrm>
            <a:off x="7315200" y="530352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1" name="Rounded Rectangle 130"/>
          <p:cNvSpPr/>
          <p:nvPr/>
        </p:nvSpPr>
        <p:spPr>
          <a:xfrm>
            <a:off x="8138160" y="5303520"/>
            <a:ext cx="82296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2" name="Rounded Rectangle 131"/>
          <p:cNvSpPr/>
          <p:nvPr/>
        </p:nvSpPr>
        <p:spPr>
          <a:xfrm>
            <a:off x="8961120" y="5303520"/>
            <a:ext cx="82296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3" name="Rounded Rectangle 132"/>
          <p:cNvSpPr/>
          <p:nvPr/>
        </p:nvSpPr>
        <p:spPr>
          <a:xfrm>
            <a:off x="9784080" y="5303520"/>
            <a:ext cx="82296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4" name="Rounded Rectangle 133"/>
          <p:cNvSpPr/>
          <p:nvPr/>
        </p:nvSpPr>
        <p:spPr>
          <a:xfrm>
            <a:off x="10607040" y="5303520"/>
            <a:ext cx="82296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5" name="Rounded Rectangle 134"/>
          <p:cNvSpPr/>
          <p:nvPr/>
        </p:nvSpPr>
        <p:spPr>
          <a:xfrm>
            <a:off x="11430000" y="5303520"/>
            <a:ext cx="82296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6" name="Rounded Rectangle 135"/>
          <p:cNvSpPr/>
          <p:nvPr/>
        </p:nvSpPr>
        <p:spPr>
          <a:xfrm>
            <a:off x="457200" y="571500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金沢工場 E-1000設置（20台）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8" name="Rectangle 137"/>
          <p:cNvSpPr/>
          <p:nvPr/>
        </p:nvSpPr>
        <p:spPr>
          <a:xfrm>
            <a:off x="402336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9" name="Rectangle 138"/>
          <p:cNvSpPr/>
          <p:nvPr/>
        </p:nvSpPr>
        <p:spPr>
          <a:xfrm>
            <a:off x="484632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0" name="Rectangle 139"/>
          <p:cNvSpPr/>
          <p:nvPr/>
        </p:nvSpPr>
        <p:spPr>
          <a:xfrm>
            <a:off x="566928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1" name="Rectangle 140"/>
          <p:cNvSpPr/>
          <p:nvPr/>
        </p:nvSpPr>
        <p:spPr>
          <a:xfrm>
            <a:off x="649224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2" name="Rectangle 141"/>
          <p:cNvSpPr/>
          <p:nvPr/>
        </p:nvSpPr>
        <p:spPr>
          <a:xfrm>
            <a:off x="731520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3" name="Rounded Rectangle 142"/>
          <p:cNvSpPr/>
          <p:nvPr/>
        </p:nvSpPr>
        <p:spPr>
          <a:xfrm>
            <a:off x="8138160" y="571500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4" name="Rounded Rectangle 143"/>
          <p:cNvSpPr/>
          <p:nvPr/>
        </p:nvSpPr>
        <p:spPr>
          <a:xfrm>
            <a:off x="8961120" y="571500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5" name="Rectangle 144"/>
          <p:cNvSpPr/>
          <p:nvPr/>
        </p:nvSpPr>
        <p:spPr>
          <a:xfrm>
            <a:off x="978408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6" name="Rectangle 145"/>
          <p:cNvSpPr/>
          <p:nvPr/>
        </p:nvSpPr>
        <p:spPr>
          <a:xfrm>
            <a:off x="1060704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7" name="Rectangle 146"/>
          <p:cNvSpPr/>
          <p:nvPr/>
        </p:nvSpPr>
        <p:spPr>
          <a:xfrm>
            <a:off x="11430000" y="571500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8" name="Rounded Rectangle 147"/>
          <p:cNvSpPr/>
          <p:nvPr/>
        </p:nvSpPr>
        <p:spPr>
          <a:xfrm>
            <a:off x="457200" y="612648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金沢工場 SW-100連携設定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0" name="Rectangle 149"/>
          <p:cNvSpPr/>
          <p:nvPr/>
        </p:nvSpPr>
        <p:spPr>
          <a:xfrm>
            <a:off x="402336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1" name="Rectangle 150"/>
          <p:cNvSpPr/>
          <p:nvPr/>
        </p:nvSpPr>
        <p:spPr>
          <a:xfrm>
            <a:off x="484632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2" name="Rectangle 151"/>
          <p:cNvSpPr/>
          <p:nvPr/>
        </p:nvSpPr>
        <p:spPr>
          <a:xfrm>
            <a:off x="566928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3" name="Rectangle 152"/>
          <p:cNvSpPr/>
          <p:nvPr/>
        </p:nvSpPr>
        <p:spPr>
          <a:xfrm>
            <a:off x="649224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4" name="Rectangle 153"/>
          <p:cNvSpPr/>
          <p:nvPr/>
        </p:nvSpPr>
        <p:spPr>
          <a:xfrm>
            <a:off x="731520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5" name="Rectangle 154"/>
          <p:cNvSpPr/>
          <p:nvPr/>
        </p:nvSpPr>
        <p:spPr>
          <a:xfrm>
            <a:off x="813816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6" name="Rounded Rectangle 155"/>
          <p:cNvSpPr/>
          <p:nvPr/>
        </p:nvSpPr>
        <p:spPr>
          <a:xfrm>
            <a:off x="8961120" y="612648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7" name="Rounded Rectangle 156"/>
          <p:cNvSpPr/>
          <p:nvPr/>
        </p:nvSpPr>
        <p:spPr>
          <a:xfrm>
            <a:off x="9784080" y="612648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8" name="Rectangle 157"/>
          <p:cNvSpPr/>
          <p:nvPr/>
        </p:nvSpPr>
        <p:spPr>
          <a:xfrm>
            <a:off x="1060704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9" name="Rectangle 158"/>
          <p:cNvSpPr/>
          <p:nvPr/>
        </p:nvSpPr>
        <p:spPr>
          <a:xfrm>
            <a:off x="11430000" y="612648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0" name="Rounded Rectangle 159"/>
          <p:cNvSpPr/>
          <p:nvPr/>
        </p:nvSpPr>
        <p:spPr>
          <a:xfrm>
            <a:off x="457200" y="653796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全社統合ダッシュボード構築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2" name="Rectangle 161"/>
          <p:cNvSpPr/>
          <p:nvPr/>
        </p:nvSpPr>
        <p:spPr>
          <a:xfrm>
            <a:off x="402336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3" name="Rectangle 162"/>
          <p:cNvSpPr/>
          <p:nvPr/>
        </p:nvSpPr>
        <p:spPr>
          <a:xfrm>
            <a:off x="484632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4" name="Rectangle 163"/>
          <p:cNvSpPr/>
          <p:nvPr/>
        </p:nvSpPr>
        <p:spPr>
          <a:xfrm>
            <a:off x="566928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5" name="Rectangle 164"/>
          <p:cNvSpPr/>
          <p:nvPr/>
        </p:nvSpPr>
        <p:spPr>
          <a:xfrm>
            <a:off x="649224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6" name="Rectangle 165"/>
          <p:cNvSpPr/>
          <p:nvPr/>
        </p:nvSpPr>
        <p:spPr>
          <a:xfrm>
            <a:off x="731520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7" name="Rectangle 166"/>
          <p:cNvSpPr/>
          <p:nvPr/>
        </p:nvSpPr>
        <p:spPr>
          <a:xfrm>
            <a:off x="813816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8" name="Rectangle 167"/>
          <p:cNvSpPr/>
          <p:nvPr/>
        </p:nvSpPr>
        <p:spPr>
          <a:xfrm>
            <a:off x="896112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9" name="Rounded Rectangle 168"/>
          <p:cNvSpPr/>
          <p:nvPr/>
        </p:nvSpPr>
        <p:spPr>
          <a:xfrm>
            <a:off x="9784080" y="653796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0" name="Rounded Rectangle 169"/>
          <p:cNvSpPr/>
          <p:nvPr/>
        </p:nvSpPr>
        <p:spPr>
          <a:xfrm>
            <a:off x="10607040" y="653796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1" name="Rectangle 170"/>
          <p:cNvSpPr/>
          <p:nvPr/>
        </p:nvSpPr>
        <p:spPr>
          <a:xfrm>
            <a:off x="11430000" y="653796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2" name="Rounded Rectangle 171"/>
          <p:cNvSpPr/>
          <p:nvPr/>
        </p:nvSpPr>
        <p:spPr>
          <a:xfrm>
            <a:off x="457200" y="6949440"/>
            <a:ext cx="27432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運用引き継ぎ・教育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4" name="Rectangle 173"/>
          <p:cNvSpPr/>
          <p:nvPr/>
        </p:nvSpPr>
        <p:spPr>
          <a:xfrm>
            <a:off x="402336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5" name="Rectangle 174"/>
          <p:cNvSpPr/>
          <p:nvPr/>
        </p:nvSpPr>
        <p:spPr>
          <a:xfrm>
            <a:off x="484632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6" name="Rectangle 175"/>
          <p:cNvSpPr/>
          <p:nvPr/>
        </p:nvSpPr>
        <p:spPr>
          <a:xfrm>
            <a:off x="566928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7" name="Rectangle 176"/>
          <p:cNvSpPr/>
          <p:nvPr/>
        </p:nvSpPr>
        <p:spPr>
          <a:xfrm>
            <a:off x="649224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8" name="Rectangle 177"/>
          <p:cNvSpPr/>
          <p:nvPr/>
        </p:nvSpPr>
        <p:spPr>
          <a:xfrm>
            <a:off x="731520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9" name="Rectangle 178"/>
          <p:cNvSpPr/>
          <p:nvPr/>
        </p:nvSpPr>
        <p:spPr>
          <a:xfrm>
            <a:off x="813816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0" name="Rectangle 179"/>
          <p:cNvSpPr/>
          <p:nvPr/>
        </p:nvSpPr>
        <p:spPr>
          <a:xfrm>
            <a:off x="896112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1" name="Rectangle 180"/>
          <p:cNvSpPr/>
          <p:nvPr/>
        </p:nvSpPr>
        <p:spPr>
          <a:xfrm>
            <a:off x="9784080" y="6949440"/>
            <a:ext cx="822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2" name="Rounded Rectangle 181"/>
          <p:cNvSpPr/>
          <p:nvPr/>
        </p:nvSpPr>
        <p:spPr>
          <a:xfrm>
            <a:off x="10607040" y="694944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3" name="Rounded Rectangle 182"/>
          <p:cNvSpPr/>
          <p:nvPr/>
        </p:nvSpPr>
        <p:spPr>
          <a:xfrm>
            <a:off x="11430000" y="6949440"/>
            <a:ext cx="82296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4" name="Diamond 183"/>
          <p:cNvSpPr/>
          <p:nvPr/>
        </p:nvSpPr>
        <p:spPr>
          <a:xfrm>
            <a:off x="4846320" y="7406640"/>
            <a:ext cx="457200" cy="457200"/>
          </a:xfrm>
          <a:prstGeom prst="diamond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◆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572000" y="7863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C8E"/>
                </a:solidFill>
              </a:defRPr>
            </a:pPr>
            <a:r>
              <a:t>PoC</a:t>
            </a:r>
            <a:br/>
            <a:r>
              <a:t>完了判定</a:t>
            </a:r>
          </a:p>
        </p:txBody>
      </p:sp>
      <p:sp>
        <p:nvSpPr>
          <p:cNvPr id="186" name="Diamond 185"/>
          <p:cNvSpPr/>
          <p:nvPr/>
        </p:nvSpPr>
        <p:spPr>
          <a:xfrm>
            <a:off x="7315200" y="7406640"/>
            <a:ext cx="457200" cy="457200"/>
          </a:xfrm>
          <a:prstGeom prst="diamond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◆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040880" y="7863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8B57"/>
                </a:solidFill>
              </a:defRPr>
            </a:pPr>
            <a:r>
              <a:t>富山工場</a:t>
            </a:r>
            <a:br/>
            <a:r>
              <a:t>本番稼働</a:t>
            </a:r>
          </a:p>
        </p:txBody>
      </p:sp>
      <p:sp>
        <p:nvSpPr>
          <p:cNvPr id="188" name="Diamond 187"/>
          <p:cNvSpPr/>
          <p:nvPr/>
        </p:nvSpPr>
        <p:spPr>
          <a:xfrm>
            <a:off x="11430000" y="7406640"/>
            <a:ext cx="457200" cy="457200"/>
          </a:xfrm>
          <a:prstGeom prst="diamond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◆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155680" y="7863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8D2A"/>
                </a:solidFill>
              </a:defRPr>
            </a:pPr>
            <a:r>
              <a:t>全社統合</a:t>
            </a:r>
            <a:br/>
            <a:r>
              <a:t>運用開始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B2A4A"/>
                </a:solidFill>
              </a:defRPr>
            </a:pPr>
            <a:r>
              <a:t>プロジェクト体制: BPS側 PM1名+SE2名+導入支援1名 ／ 北陸製薬側 環境管理部・佐藤部長+担当者2名 ／ 富士通連携窓口1名 ／ 合計8名体制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投資対効果 — 900万円の投資価値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  |  BP-2026-0298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200400" cy="384048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費目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1371600" cy="384048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金額（千円）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1371600" cy="384048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備考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81328"/>
            <a:ext cx="320040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E-1000 エネルギーメーター（40台）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81328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3,600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81328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富山20台+金沢20台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65376"/>
            <a:ext cx="320040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SW-100 ライセンス（年間）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65376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2,400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65376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2工場プラン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249424"/>
            <a:ext cx="320040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導入・構築費用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249424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249424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設置・設定・教育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633472"/>
            <a:ext cx="320040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富士通NW連携費用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633472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1,000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633472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既存NWとの接続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017520"/>
            <a:ext cx="3200400" cy="384048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投資合計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017520"/>
            <a:ext cx="1371600" cy="384048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9,000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017520"/>
            <a:ext cx="1371600" cy="384048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初年度合計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256032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効果項目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097280"/>
            <a:ext cx="137160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年間効果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097280"/>
            <a:ext cx="137160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算出根拠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481328"/>
            <a:ext cx="256032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人件費削減（レポート工数）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1481328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180万円/年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1481328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5人日→0.5人日/月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865376"/>
            <a:ext cx="256032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エネルギーコスト削減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865376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270万円/年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1865376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異常検知+最適化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249424"/>
            <a:ext cx="256032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罰則回避（リスク軽減）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2249424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プライスレス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2249424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報告義務対応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633472"/>
            <a:ext cx="2560320" cy="384048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カーボンクレジット収益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2633472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50万円/年〜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2633472"/>
            <a:ext cx="13716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将来的な売却益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017520"/>
            <a:ext cx="256032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効果合計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3017520"/>
            <a:ext cx="137160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500万円+α/年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3017520"/>
            <a:ext cx="137160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投資回収2年以内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274320" y="3474720"/>
          <a:ext cx="56692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6400800" y="3474720"/>
            <a:ext cx="2560320" cy="9144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投資回収期間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約2年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3474720"/>
            <a:ext cx="2560320" cy="9144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5年間純効果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+440万円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572000"/>
            <a:ext cx="530352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⚠ 規制対応コスト（未対応時のリスク費用）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罰金リスク + 企業名公表 + ESG評価低下 → 取引機会損失は数千万〜億単位の可能性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577840"/>
            <a:ext cx="5303520" cy="640080"/>
          </a:xfrm>
          <a:prstGeom prst="roundRect">
            <a:avLst/>
          </a:prstGeom>
          <a:solidFill>
            <a:srgbClr val="6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8D2A"/>
                </a:solidFill>
              </a:defRPr>
            </a:pPr>
            <a:r>
              <a:t>将来価値: カーボンクレジット収益化</a:t>
            </a:r>
          </a:p>
          <a:p>
            <a:pPr algn="l">
              <a:defRPr sz="900" b="0">
                <a:solidFill>
                  <a:srgbClr val="FFFFFF"/>
                </a:solidFill>
              </a:defRPr>
            </a:pPr>
            <a:r>
              <a:t>CO2削減量を J-クレジット化 → 年間50万円〜の売却益見込み（市場価格上昇トレンド）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537960"/>
            <a:ext cx="5943600" cy="1828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F8C8D"/>
                </a:solidFill>
              </a:defRPr>
            </a:pPr>
            <a:r>
              <a:t>※ 2年目以降の投資はSW-100年間ライセンス料240万円のみ（E-1000は買い切り）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