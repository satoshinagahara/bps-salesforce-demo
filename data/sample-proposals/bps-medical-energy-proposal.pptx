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導入前（現状）</c:v>
                </c:pt>
              </c:strCache>
            </c:strRef>
          </c:tx>
          <c:spPr>
            <a:solidFill>
              <a:srgbClr val="C0392B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B2A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電力コスト
（百万円/年）</c:v>
                </c:pt>
                <c:pt idx="1">
                  <c:v>空調コスト
（百万円/年）</c:v>
                </c:pt>
                <c:pt idx="2">
                  <c:v>保全コスト
（百万円/年）</c:v>
                </c:pt>
                <c:pt idx="3">
                  <c:v>レポート工数
（人日/月）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126</c:v>
                </c:pt>
                <c:pt idx="2">
                  <c:v>48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導入後（3年目）</c:v>
                </c:pt>
              </c:strCache>
            </c:strRef>
          </c:tx>
          <c:spPr>
            <a:solidFill>
              <a:srgbClr val="2E8B57"/>
            </a:solidFill>
          </c:spPr>
          <c:dLbls>
            <c:txPr>
              <a:bodyPr/>
              <a:lstStyle/>
              <a:p>
                <a:pPr>
                  <a:defRPr sz="900">
                    <a:solidFill>
                      <a:srgbClr val="0B2A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電力コスト
（百万円/年）</c:v>
                </c:pt>
                <c:pt idx="1">
                  <c:v>空調コスト
（百万円/年）</c:v>
                </c:pt>
                <c:pt idx="2">
                  <c:v>保全コスト
（百万円/年）</c:v>
                </c:pt>
                <c:pt idx="3">
                  <c:v>レポート工数
（人日/月）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238</c:v>
                </c:pt>
                <c:pt idx="1">
                  <c:v>101</c:v>
                </c:pt>
                <c:pt idx="2">
                  <c:v>34</c:v>
                </c:pt>
                <c:pt idx="3">
                  <c:v>3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3152" cy="36576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C47C"/>
                </a:solidFill>
              </a:defRPr>
            </a:pPr>
            <a:r>
              <a:t>BPS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A8FC1"/>
                </a:solidFill>
              </a:defRPr>
            </a:pPr>
            <a:r>
              <a:t>Renewable Energy Solutions for a Sustainable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病院設備エネルギー管理システム導入提案書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88D2A"/>
                </a:solidFill>
              </a:defRPr>
            </a:pPr>
            <a:r>
              <a:t>西日本メディカルセンター 御中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2026年1月15日</a:t>
            </a:r>
          </a:p>
          <a:p>
            <a:pPr>
              <a:defRPr sz="1400">
                <a:solidFill>
                  <a:srgbClr val="7F8C8D"/>
                </a:solidFill>
              </a:defRPr>
            </a:pPr>
            <a:r>
              <a:t>BPS Corporation エネルギーソリューション事業部</a:t>
            </a:r>
          </a:p>
          <a:p>
            <a:pPr>
              <a:defRPr sz="1200">
                <a:solidFill>
                  <a:srgbClr val="7F8C8D"/>
                </a:solidFill>
              </a:defRPr>
            </a:pPr>
            <a:r>
              <a:t>提案担当: 佐藤 健一 / ソリューションアーキテクト: 中村 美咲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943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0392B"/>
                </a:solidFill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286000" cy="54864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提案番号: BP-2026-0215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病院エネルギーの課題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2560320"/>
            <a:ext cx="2560320" cy="12801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西日本メディカルセンター</a:t>
            </a:r>
            <a:br/>
            <a:r>
              <a:t>800床・24時間稼働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474720" cy="1645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課題1: 24時間365日稼働の電力負荷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手術室・ICU・救急の無停電稼働が必須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ピーク電力 3,200kW、年間電力費 約2.8億円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停電時の自動切替が30秒以上かかるケースあり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164592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課題2: 空調・クリーンルームの高負荷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手術室は温度22±1℃・湿度50±5%の厳密制御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空調が全電力消費の約45%を占める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感染症エリアの陰圧管理が常時必要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3474720" cy="164592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課題3: 医療機器の電源品質要件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MRI・CT等の高額機器に安定電源が不可欠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電磁干渉（EMI）による機器誤作動リスク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UPS更新サイクルの管理が属人化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114800"/>
            <a:ext cx="3474720" cy="16459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課題4: エネルギーコスト増大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電力料金の値上げにより年間5%以上のコスト増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エネルギー消費の可視化・分析が未整備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省エネ施策の効果測定ができていない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1691640"/>
            <a:ext cx="9144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315200" y="1691640"/>
            <a:ext cx="9144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931920" y="4709160"/>
            <a:ext cx="9144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15200" y="4709160"/>
            <a:ext cx="9144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280160"/>
            <a:ext cx="777240" cy="36576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0392B"/>
                </a:solidFill>
              </a:defRPr>
            </a:pPr>
            <a:r>
              <a:t>影響度:高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0" y="1280160"/>
            <a:ext cx="777240" cy="36576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0392B"/>
                </a:solidFill>
              </a:defRPr>
            </a:pPr>
            <a:r>
              <a:t>影響度:高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0" y="4343400"/>
            <a:ext cx="777240" cy="36576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0392B"/>
                </a:solidFill>
              </a:defRPr>
            </a:pPr>
            <a:r>
              <a:t>影響度:高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4343400"/>
            <a:ext cx="777240" cy="36576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88D2A"/>
                </a:solidFill>
              </a:defRPr>
            </a:pPr>
            <a:r>
              <a:t>影響度:中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提案ソリューション構成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3716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計測レイヤー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43200"/>
            <a:ext cx="13716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通信レイヤー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389120"/>
            <a:ext cx="13716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管理レイヤー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669280"/>
            <a:ext cx="13716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利用者レイヤー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005840"/>
            <a:ext cx="1645920" cy="7315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E-1000 #1-#10</a:t>
            </a:r>
            <a:br/>
            <a:r>
              <a:t>管理棟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005840"/>
            <a:ext cx="1645920" cy="7315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E-1000 #11-#20</a:t>
            </a:r>
            <a:br/>
            <a:r>
              <a:t>病棟A・B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05840"/>
            <a:ext cx="1645920" cy="7315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E-1000 #21-#30</a:t>
            </a:r>
            <a:br/>
            <a:r>
              <a:t>手術室棟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1645920" cy="7315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E-1000 #31-#40</a:t>
            </a:r>
            <a:br/>
            <a:r>
              <a:t>外来・検査棟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005840"/>
            <a:ext cx="1828800" cy="7315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B2A4A"/>
                </a:solidFill>
              </a:defRPr>
            </a:pPr>
            <a:r>
              <a:t>E-1000</a:t>
            </a:r>
            <a:br/>
            <a:r>
              <a:t>汎用エネルギーメーター</a:t>
            </a:r>
            <a:br/>
            <a:r>
              <a:t>精度 ±0.5%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834640" y="1828800"/>
            <a:ext cx="274320" cy="73152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4846320" y="1828800"/>
            <a:ext cx="274320" cy="73152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6858000" y="1828800"/>
            <a:ext cx="274320" cy="73152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869680" y="1828800"/>
            <a:ext cx="274320" cy="73152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03120" y="2560320"/>
            <a:ext cx="4114800" cy="82296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IoTゲートウェイ</a:t>
            </a:r>
            <a:br/>
            <a:r>
              <a:t>MQTT / HTTPS プロトコル変換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560320"/>
            <a:ext cx="2743200" cy="82296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病院内ネットワーク</a:t>
            </a:r>
            <a:br/>
            <a:r>
              <a:t>VLAN分離</a:t>
            </a:r>
          </a:p>
        </p:txBody>
      </p:sp>
      <p:sp>
        <p:nvSpPr>
          <p:cNvPr id="19" name="Diamond 18"/>
          <p:cNvSpPr/>
          <p:nvPr/>
        </p:nvSpPr>
        <p:spPr>
          <a:xfrm>
            <a:off x="9875520" y="2651760"/>
            <a:ext cx="2103120" cy="594360"/>
          </a:xfrm>
          <a:prstGeom prst="diamond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TLS1.3暗号化</a:t>
            </a:r>
            <a:br/>
            <a:r>
              <a:t>ISO27001準拠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029200" y="3474720"/>
            <a:ext cx="365760" cy="731520"/>
          </a:xfrm>
          <a:prstGeom prst="downArrow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28800" y="4297680"/>
            <a:ext cx="5029200" cy="10972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8D2A"/>
                </a:solidFill>
              </a:defRPr>
            </a:pPr>
            <a:r>
              <a:t>SW-100 エネルギー管理プラットフォーム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リアルタイム監視 | AI異常検知 | 消費分析 | レポート自動生成</a:t>
            </a:r>
          </a:p>
          <a:p>
            <a:pPr algn="ctr">
              <a:defRPr sz="800" b="0">
                <a:solidFill>
                  <a:srgbClr val="7F8C8D"/>
                </a:solidFill>
              </a:defRPr>
            </a:pPr>
            <a:r>
              <a:t>※ 産業施設向け標準パッケージをベースに病院向けカスタマイズ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297680"/>
            <a:ext cx="4114800" cy="10972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8D2A"/>
                </a:solidFill>
              </a:defRPr>
            </a:pPr>
            <a:r>
              <a:t>CS-100 設備保全クラウドサービス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予防保全 | 空調最適化 | 設備稼働監視 | 保守スケジュール管理</a:t>
            </a:r>
          </a:p>
        </p:txBody>
      </p:sp>
      <p:sp>
        <p:nvSpPr>
          <p:cNvPr id="23" name="Left-Right Arrow 22"/>
          <p:cNvSpPr/>
          <p:nvPr/>
        </p:nvSpPr>
        <p:spPr>
          <a:xfrm>
            <a:off x="6858000" y="4663440"/>
            <a:ext cx="502920" cy="274320"/>
          </a:xfrm>
          <a:prstGeom prst="leftRightArrow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5760720" y="5440680"/>
            <a:ext cx="365760" cy="274320"/>
          </a:xfrm>
          <a:prstGeom prst="down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28800" y="5760720"/>
            <a:ext cx="2011680" cy="59436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経営ダッシュボード</a:t>
            </a:r>
            <a:br/>
            <a:r>
              <a:t>（病院理事会）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5760720"/>
            <a:ext cx="2011680" cy="59436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エネルギー監視</a:t>
            </a:r>
            <a:br/>
            <a:r>
              <a:t>（施設管理部）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760720"/>
            <a:ext cx="2011680" cy="59436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設備保全管理</a:t>
            </a:r>
            <a:br/>
            <a:r>
              <a:t>（保全担当者）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5760720"/>
            <a:ext cx="2011680" cy="59436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環境レポート</a:t>
            </a:r>
            <a:br/>
            <a:r>
              <a:t>（総務・経営企画）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00800"/>
            <a:ext cx="5029200" cy="228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F8C8D"/>
                </a:solidFill>
              </a:defRPr>
            </a:pPr>
            <a:r>
              <a:t>※ 本構成は産業施設向けエネルギー管理の標準アーキテクチャをベースとしています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導入効果の試算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1097280"/>
            <a:ext cx="3931920" cy="41148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2A4A"/>
                </a:solidFill>
              </a:defRPr>
            </a:pPr>
            <a:r>
              <a:t>年間削減効果サマリ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100" b="1">
                <a:solidFill>
                  <a:srgbClr val="1A5C8E"/>
                </a:solidFill>
              </a:defRPr>
            </a:pPr>
            <a:r>
              <a:t>電力コスト削減</a:t>
            </a:r>
          </a:p>
          <a:p>
            <a:pPr algn="l">
              <a:defRPr sz="1000" b="0">
                <a:solidFill>
                  <a:srgbClr val="0B2A4A"/>
                </a:solidFill>
              </a:defRPr>
            </a:pPr>
            <a:r>
              <a:t>▲ 4,200万円/年（15%削減）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100" b="1">
                <a:solidFill>
                  <a:srgbClr val="1A5C8E"/>
                </a:solidFill>
              </a:defRPr>
            </a:pPr>
            <a:r>
              <a:t>空調最適化</a:t>
            </a:r>
          </a:p>
          <a:p>
            <a:pPr algn="l">
              <a:defRPr sz="1000" b="0">
                <a:solidFill>
                  <a:srgbClr val="0B2A4A"/>
                </a:solidFill>
              </a:defRPr>
            </a:pPr>
            <a:r>
              <a:t>▲ 2,500万円/年（20%削減）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100" b="1">
                <a:solidFill>
                  <a:srgbClr val="1A5C8E"/>
                </a:solidFill>
              </a:defRPr>
            </a:pPr>
            <a:r>
              <a:t>保全コスト削減</a:t>
            </a:r>
          </a:p>
          <a:p>
            <a:pPr algn="l">
              <a:defRPr sz="1000" b="0">
                <a:solidFill>
                  <a:srgbClr val="0B2A4A"/>
                </a:solidFill>
              </a:defRPr>
            </a:pPr>
            <a:r>
              <a:t>▲ 1,400万円/年（29%削減）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100" b="1">
                <a:solidFill>
                  <a:srgbClr val="1A5C8E"/>
                </a:solidFill>
              </a:defRPr>
            </a:pPr>
            <a:r>
              <a:t>レポート工数削減</a:t>
            </a:r>
          </a:p>
          <a:p>
            <a:pPr algn="l">
              <a:defRPr sz="1000" b="0">
                <a:solidFill>
                  <a:srgbClr val="0B2A4A"/>
                </a:solidFill>
              </a:defRPr>
            </a:pPr>
            <a:r>
              <a:t>▲ 12人日/月（80%削減）</a:t>
            </a:r>
          </a:p>
          <a:p>
            <a:pPr algn="l">
              <a:defRPr sz="800" b="0">
                <a:solidFill>
                  <a:srgbClr val="7F8C8D"/>
                </a:solidFill>
              </a:defRPr>
            </a:pPr>
            <a:r>
              <a:t>─────────────────</a:t>
            </a:r>
          </a:p>
          <a:p>
            <a:pPr algn="l">
              <a:defRPr sz="400" b="0">
                <a:solidFill>
                  <a:srgbClr val="000000"/>
                </a:solidFill>
              </a:defRPr>
            </a:pPr>
          </a:p>
          <a:p>
            <a:pPr algn="l">
              <a:defRPr sz="1100" b="1">
                <a:solidFill>
                  <a:srgbClr val="1A5C8E"/>
                </a:solidFill>
              </a:defRPr>
            </a:pPr>
            <a:r>
              <a:t>合計年間削減効果</a:t>
            </a:r>
          </a:p>
          <a:p>
            <a:pPr algn="l">
              <a:defRPr sz="1000" b="0">
                <a:solidFill>
                  <a:srgbClr val="0B2A4A"/>
                </a:solidFill>
              </a:defRPr>
            </a:pPr>
            <a:r>
              <a:t>約 4,000万円/年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394960"/>
            <a:ext cx="3931920" cy="91440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8D2A"/>
                </a:solidFill>
              </a:defRPr>
            </a:pPr>
            <a:r>
              <a:t>投資回収期間: 約3.1年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初期投資 1,250万円 / 年間削減 約4,000万円</a:t>
            </a:r>
          </a:p>
          <a:p>
            <a:pPr algn="l">
              <a:defRPr sz="800" b="0">
                <a:solidFill>
                  <a:srgbClr val="7F8C8D"/>
                </a:solidFill>
              </a:defRPr>
            </a:pPr>
            <a:r>
              <a:t>※ カスタマイズ費用・保守費用込み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0"/>
            <a:ext cx="6400800" cy="5486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7F8C8D"/>
                </a:solidFill>
              </a:defRPr>
            </a:pPr>
            <a:r>
              <a:t>※ 上記試算には医療機器との統合テスト費用・安全認証取得費用は含まれておりません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導入スケジュール（3フェーズ）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4月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5月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6月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7月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8月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9月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10月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8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11月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12月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1月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2月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35640" y="1097280"/>
            <a:ext cx="7772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3月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737360"/>
            <a:ext cx="1920240" cy="10972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Phase 1</a:t>
            </a:r>
            <a:br/>
            <a:r>
              <a:t>管理棟PoC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737360"/>
            <a:ext cx="3108960" cy="32004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E-1000 10台設置・SW-100初期構築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103120"/>
            <a:ext cx="233172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データ収集・分析基盤構築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103120"/>
            <a:ext cx="777240" cy="32004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PoC評価</a:t>
            </a:r>
          </a:p>
        </p:txBody>
      </p:sp>
      <p:sp>
        <p:nvSpPr>
          <p:cNvPr id="20" name="Diamond 19"/>
          <p:cNvSpPr/>
          <p:nvPr/>
        </p:nvSpPr>
        <p:spPr>
          <a:xfrm>
            <a:off x="5239512" y="2514600"/>
            <a:ext cx="228600" cy="228600"/>
          </a:xfrm>
          <a:prstGeom prst="diamond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472684" y="248716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0392B"/>
                </a:solidFill>
              </a:defRPr>
            </a:pPr>
            <a:r>
              <a:t>PoC完了判定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108960"/>
            <a:ext cx="1920240" cy="10972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Phase 2</a:t>
            </a:r>
            <a:br/>
            <a:r>
              <a:t>病棟展開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3108960"/>
            <a:ext cx="3108960" cy="32004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E-1000 追加20台設置（病棟A・B・手術室棟）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3474720"/>
            <a:ext cx="310896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CS-100 導入・空調最適化開始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80" y="3840480"/>
            <a:ext cx="777240" cy="32004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中間評価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480560"/>
            <a:ext cx="1920240" cy="1097280"/>
          </a:xfrm>
          <a:prstGeom prst="roundRect">
            <a:avLst/>
          </a:prstGeom>
          <a:solidFill>
            <a:srgbClr val="6C3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Phase 3</a:t>
            </a:r>
            <a:br/>
            <a:r>
              <a:t>全館展開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480560"/>
            <a:ext cx="3108960" cy="32004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E-1000 追加10台（外来・検査棟）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4846320"/>
            <a:ext cx="310896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</a:defRPr>
            </a:pPr>
            <a:r>
              <a:t>全館統合管理・ダッシュボード構築</a:t>
            </a:r>
          </a:p>
        </p:txBody>
      </p:sp>
      <p:sp>
        <p:nvSpPr>
          <p:cNvPr id="29" name="Diamond 28"/>
          <p:cNvSpPr/>
          <p:nvPr/>
        </p:nvSpPr>
        <p:spPr>
          <a:xfrm>
            <a:off x="10835640" y="5257800"/>
            <a:ext cx="228600" cy="228600"/>
          </a:xfrm>
          <a:prstGeom prst="diamond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1068812" y="523036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C0392B"/>
                </a:solidFill>
              </a:defRPr>
            </a:pPr>
            <a:r>
              <a:t>全館稼働開始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943600"/>
            <a:ext cx="1143000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>
                <a:solidFill>
                  <a:srgbClr val="7F8C8D"/>
                </a:solidFill>
              </a:defRPr>
            </a:pPr>
            <a:r>
              <a:t>※ スケジュールは標準的な産業施設向け導入計画に基づく。医療機器との干渉テスト・院内感染対策に伴う作業制限は別途調整。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次のステップ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097280" cy="45720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1887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5C8E"/>
                </a:solidFill>
              </a:defRPr>
            </a:pPr>
            <a:r>
              <a:t>2026年1月末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A4A"/>
                </a:solidFill>
              </a:defRPr>
            </a:pPr>
            <a:r>
              <a:t>技術詳細ヒアリング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00200"/>
            <a:ext cx="7772400" cy="7315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0B2A4A"/>
                </a:solidFill>
              </a:defRPr>
            </a:pPr>
            <a:r>
              <a:t>施設管理部・環境管理部との技術要件詳細確認</a:t>
            </a:r>
          </a:p>
          <a:p>
            <a:pPr algn="l">
              <a:defRPr sz="1000" b="0">
                <a:solidFill>
                  <a:srgbClr val="0B2A4A"/>
                </a:solidFill>
              </a:defRPr>
            </a:pPr>
            <a:r>
              <a:t>設置場所の現地調査（電源・ネットワーク環境）</a:t>
            </a:r>
          </a:p>
        </p:txBody>
      </p:sp>
      <p:sp>
        <p:nvSpPr>
          <p:cNvPr id="8" name="Down Arrow 7"/>
          <p:cNvSpPr/>
          <p:nvPr/>
        </p:nvSpPr>
        <p:spPr>
          <a:xfrm>
            <a:off x="914400" y="1737360"/>
            <a:ext cx="182880" cy="64008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097280" cy="4572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B57"/>
                </a:solidFill>
              </a:defRPr>
            </a:pPr>
            <a:r>
              <a:t>2026年2月中旬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A4A"/>
                </a:solidFill>
              </a:defRPr>
            </a:pPr>
            <a:r>
              <a:t>PoC計画策定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880360"/>
            <a:ext cx="7772400" cy="7315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0B2A4A"/>
                </a:solidFill>
              </a:defRPr>
            </a:pPr>
            <a:r>
              <a:t>管理棟でのPoC範囲・評価基準の合意</a:t>
            </a:r>
          </a:p>
          <a:p>
            <a:pPr algn="l">
              <a:defRPr sz="1000" b="0">
                <a:solidFill>
                  <a:srgbClr val="0B2A4A"/>
                </a:solidFill>
              </a:defRPr>
            </a:pPr>
            <a:r>
              <a:t>E-1000設置箇所の選定（10台分）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4400" y="3017520"/>
            <a:ext cx="182880" cy="64008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749040"/>
            <a:ext cx="1097280" cy="45720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490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8D2A"/>
                </a:solidFill>
              </a:defRPr>
            </a:pPr>
            <a:r>
              <a:t>2026年2月末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749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A4A"/>
                </a:solidFill>
              </a:defRPr>
            </a:pPr>
            <a:r>
              <a:t>契約・発注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160520"/>
            <a:ext cx="7772400" cy="7315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0B2A4A"/>
                </a:solidFill>
              </a:defRPr>
            </a:pPr>
            <a:r>
              <a:t>最終見積提出・契約条件の合意</a:t>
            </a:r>
          </a:p>
          <a:p>
            <a:pPr algn="l">
              <a:defRPr sz="1000" b="0">
                <a:solidFill>
                  <a:srgbClr val="0B2A4A"/>
                </a:solidFill>
              </a:defRPr>
            </a:pPr>
            <a:r>
              <a:t>Phase 1 開始に向けた準備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14400" y="4297680"/>
            <a:ext cx="182880" cy="64008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097280" cy="457200"/>
          </a:xfrm>
          <a:prstGeom prst="roundRect">
            <a:avLst/>
          </a:prstGeom>
          <a:solidFill>
            <a:srgbClr val="6C3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292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C3A8E"/>
                </a:solidFill>
              </a:defRPr>
            </a:pPr>
            <a:r>
              <a:t>2026年4月〜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B2A4A"/>
                </a:solidFill>
              </a:defRPr>
            </a:pPr>
            <a:r>
              <a:t>Phase 1 実施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5440680"/>
            <a:ext cx="7772400" cy="7315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0B2A4A"/>
                </a:solidFill>
              </a:defRPr>
            </a:pPr>
            <a:r>
              <a:t>管理棟へのE-1000設置・SW-100初期構築開始</a:t>
            </a:r>
          </a:p>
          <a:p>
            <a:pPr algn="l">
              <a:defRPr sz="1000" b="0">
                <a:solidFill>
                  <a:srgbClr val="0B2A4A"/>
                </a:solidFill>
              </a:defRPr>
            </a:pPr>
            <a:r>
              <a:t>データ収集・効果測定の基盤整備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</a:defRPr>
            </a:pPr>
            <a:r>
              <a:t>お問い合わせ: BPS Corporation エネルギーソリューション事業部  |  担当: 佐藤 健一  |  TEL: 06-XXXX-XXXX  |  Email: k.sato@bps-corp.example.com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